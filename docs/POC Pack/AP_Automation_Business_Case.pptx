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405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D7DD2"/>
                </a:solidFill>
              </a:rPr>
              <a:t>AP Automation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8F8F6"/>
                </a:solidFill>
              </a:rPr>
              <a:t>Intelligent Invoice Coding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8F8F6"/>
                </a:solidFill>
              </a:rPr>
              <a:t>for Finance Teams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5661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8A9BB0"/>
                </a:solidFill>
              </a:rPr>
              <a:t>From manual GL coding to self-learning automation —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8A9BB0"/>
                </a:solidFill>
              </a:rPr>
              <a:t>faster processing, stronger governance, measurable ROI.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A"/>
                </a:solidFill>
              </a:rPr>
              <a:t>September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332"/>
                </a:solidFill>
              </a:rPr>
              <a:t>The manual AP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105156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⏱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</a:rPr>
              <a:t>Slow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517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A6A"/>
                </a:solidFill>
              </a:rPr>
              <a:t>Clerks manually code every non-PO invoice. Each takes 2–5 minutes. Backlogs build.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370332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❌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</a:rPr>
              <a:t>Error-prone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6517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A6A"/>
                </a:solidFill>
              </a:rPr>
              <a:t>Manual coding produces inconsistent GL assignments. Corrections require rework and audit trails.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635508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</a:rPr>
              <a:t>Expensive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517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A6A"/>
                </a:solidFill>
              </a:rPr>
              <a:t>AP clerk time is consumed by repetitive coding. Scale requires more headcount, not smarter systems.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8F6"/>
                </a:solidFill>
              </a:rPr>
              <a:t>How the system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828800" cy="2926080"/>
          </a:xfrm>
          <a:prstGeom prst="roundRect">
            <a:avLst>
              <a:gd name="adj" fmla="val 6000"/>
            </a:avLst>
          </a:prstGeom>
          <a:solidFill>
            <a:srgbClr val="243044"/>
          </a:solidFill>
          <a:ln w="1905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6012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7DD2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8F6"/>
                </a:solidFill>
              </a:rPr>
              <a:t>Invoice arrives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A9BB0"/>
                </a:solidFill>
              </a:rPr>
              <a:t>Validated, vendor resolved, description cleaned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463040"/>
            <a:ext cx="1828800" cy="2926080"/>
          </a:xfrm>
          <a:prstGeom prst="roundRect">
            <a:avLst>
              <a:gd name="adj" fmla="val 6000"/>
            </a:avLst>
          </a:prstGeom>
          <a:solidFill>
            <a:srgbClr val="243044"/>
          </a:solidFill>
          <a:ln w="1905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292608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7DD2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8F6"/>
                </a:solidFill>
              </a:rPr>
              <a:t>RAG retrieval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60604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A9BB0"/>
                </a:solidFill>
              </a:rPr>
              <a:t>Similar historical invoices retrieved from the corpus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828800" cy="2926080"/>
          </a:xfrm>
          <a:prstGeom prst="roundRect">
            <a:avLst>
              <a:gd name="adj" fmla="val 6000"/>
            </a:avLst>
          </a:prstGeom>
          <a:solidFill>
            <a:srgbClr val="243044"/>
          </a:solidFill>
          <a:ln w="1905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489204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7DD2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8F6"/>
                </a:solidFill>
              </a:rPr>
              <a:t>Confidence gate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60604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A9BB0"/>
                </a:solidFill>
              </a:rPr>
              <a:t>High confidence → auto-post. Low → human review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20840" y="1463040"/>
            <a:ext cx="1828800" cy="2926080"/>
          </a:xfrm>
          <a:prstGeom prst="roundRect">
            <a:avLst>
              <a:gd name="adj" fmla="val 6000"/>
            </a:avLst>
          </a:prstGeom>
          <a:solidFill>
            <a:srgbClr val="243044"/>
          </a:solidFill>
          <a:ln w="1905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85800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8F6"/>
                </a:solidFill>
              </a:rPr>
              <a:t>Write-back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60604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A9BB0"/>
                </a:solidFill>
              </a:rPr>
              <a:t>Every confirmation trains the system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332"/>
                </a:solidFill>
              </a:rPr>
              <a:t>Proven POC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D7DD2"/>
                </a:solidFill>
              </a:rPr>
              <a:t>99%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Prediction accuracy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</a:rPr>
              <a:t>198/200 invoices correct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18872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288036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D7DD2"/>
                </a:solidFill>
              </a:rPr>
              <a:t>74%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Straight-through rate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</a:rPr>
              <a:t>Zero human touch needed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484632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A020"/>
                </a:solidFill>
              </a:rPr>
              <a:t>100%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Auto-post accuracy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</a:rPr>
              <a:t>Never wrong when confident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18872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81228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D7DD2"/>
                </a:solidFill>
              </a:rPr>
              <a:t>907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Corpus points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</a:rPr>
              <a:t>Growing with every confirmation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3891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6A"/>
                </a:solidFill>
              </a:rPr>
              <a:t>Results from live POC running on Qdrant Cloud with real embedding model — not simulated.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332"/>
                </a:solidFill>
              </a:rPr>
              <a:t>Time to value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1440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Week 1–2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1"/>
            <a:ext cx="18288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1033272" y="2246812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2332"/>
                </a:solidFill>
              </a:rPr>
              <a:t>Historical invoice extract from ERP seeds the corpus. Shadow mode begins — system runs alongside existing process.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234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288036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Week 3–4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61488" y="2148841"/>
            <a:ext cx="18288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2898648" y="2246812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2332"/>
                </a:solidFill>
              </a:rPr>
              <a:t>Accuracy validated against confirmed postings. Confidence thresholds calibrated per vendor category.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484632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Week 5–6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54880" y="2139043"/>
            <a:ext cx="18288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4846320" y="2312126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2332"/>
                </a:solidFill>
              </a:rPr>
              <a:t>Go live. Auto-posting begins. Clerks handle exceptions only. Corpus grows with every confirmation.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20840" y="1234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81228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Month 3+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675120" y="2132512"/>
            <a:ext cx="18288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821424" y="2246812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2332"/>
                </a:solidFill>
              </a:rPr>
              <a:t>Automation rate climbing. New vendor types brought in. Reporting suite live for Finance Director.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8F6"/>
                </a:solidFill>
              </a:rPr>
              <a:t>The savings case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8A9BB0"/>
                </a:solidFill>
              </a:rPr>
              <a:t>At 10,000 invoices/month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130552"/>
            <a:ext cx="3840480" cy="0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91440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</a:rPr>
              <a:t>AP clerk cost (manual)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8F8F6"/>
                </a:solidFill>
              </a:rPr>
              <a:t>~£2,300/month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724912"/>
            <a:ext cx="3840480" cy="0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</a:rPr>
              <a:t>System infrastructure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8F8F6"/>
                </a:solidFill>
              </a:rPr>
              <a:t>~£300/month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319272"/>
            <a:ext cx="3840480" cy="0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9144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</a:rPr>
              <a:t>Automation rate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D7DD2"/>
                </a:solidFill>
              </a:rPr>
              <a:t>74% straight-through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913632"/>
            <a:ext cx="3840480" cy="0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91440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</a:rPr>
              <a:t>Net monthly saving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A020"/>
                </a:solidFill>
              </a:rPr>
              <a:t>~£1,900/month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8A9BB0"/>
                </a:solidFill>
              </a:rPr>
              <a:t>Beyond the numbers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8F8F6"/>
                </a:solidFill>
              </a:rPr>
              <a:t>✓  Clerks redeployed to exceptions and higher-value work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58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8F8F6"/>
                </a:solidFill>
              </a:rPr>
              <a:t>✓  Invoices posted same day — not end of week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9169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8F8F6"/>
                </a:solidFill>
              </a:rPr>
              <a:t>✓  Scale without headcount — double volume, add £50/month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5753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8F8F6"/>
                </a:solidFill>
              </a:rPr>
              <a:t>✓  ROI compounds as automation rate climbs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332"/>
                </a:solidFill>
              </a:rPr>
              <a:t>Governance by design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1005840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</a:rPr>
              <a:t>Confidence gate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6276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6A"/>
                </a:solidFill>
              </a:rPr>
              <a:t>System only auto-posts when confident. Low confidence always routes to human review.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</a:rPr>
              <a:t>Cold-start protection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620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6A"/>
                </a:solidFill>
              </a:rPr>
              <a:t>Unknown vendors with no history are never auto-posted until enough evidence builds 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100584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</a:rPr>
              <a:t>High-value override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0965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6A"/>
                </a:solidFill>
              </a:rPr>
              <a:t>Invoices above a defined threshold always require human approval — regardless of confidence.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800600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</a:rPr>
              <a:t>Full audit trail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6276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6A"/>
                </a:solidFill>
              </a:rPr>
              <a:t>Every prediction carries full provenance — evidence, confidence score, routing reason, confirming user.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24231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4800600" y="2514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</a:rPr>
              <a:t>Immutable log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8620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6A"/>
                </a:solidFill>
              </a:rPr>
              <a:t>Append-only, cryptographically hashed. No decision can be altered after it is recorded.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6576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90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80060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8F6"/>
                </a:solidFill>
              </a:rPr>
              <a:t>The principle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40965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B0"/>
                </a:solidFill>
              </a:rPr>
              <a:t>Governance is proportional, not absent. The system scales oversight with risk.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8F8F6"/>
                </a:solidFill>
              </a:rPr>
              <a:t>The system gets better without anyone touching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8A9BB0"/>
                </a:solidFill>
              </a:rPr>
              <a:t>Traditional AP automation requires a PS team to author and maintain rules. Every new vendor requires manual intervention.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F8F8F6"/>
                </a:solidFill>
              </a:rPr>
              <a:t>This system learns from every confirmed invoice. No rules. No PS bottleneck. No ongoing cost.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77840" y="9144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43044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715000" y="1078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BB0"/>
                </a:solidFill>
              </a:rPr>
              <a:t>Month 1 — seed corpus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0789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D7DD2"/>
                </a:solidFill>
              </a:rPr>
              <a:t>60% auto-post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77840" y="1810512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43044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715000" y="19751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BB0"/>
                </a:solidFill>
              </a:rPr>
              <a:t>Month 3 — corpus growing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97510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D7DD2"/>
                </a:solidFill>
              </a:rPr>
              <a:t>74% auto-post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577840" y="2706624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43044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715000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BB0"/>
                </a:solidFill>
              </a:rPr>
              <a:t>Month 6 — established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8712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A020"/>
                </a:solidFill>
              </a:rPr>
              <a:t>85%+ target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77840" y="3602736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43044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5715000" y="3767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BB0"/>
                </a:solidFill>
              </a:rPr>
              <a:t>Year 2 — mature corpus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767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A020"/>
                </a:solidFill>
              </a:rPr>
              <a:t>90%+ target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332"/>
                </a:solidFill>
              </a:rPr>
              <a:t>Reporting your ERP cannot provide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7DD2"/>
                </a:solidFill>
              </a:rPr>
              <a:t>AP Team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Queue depth and 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Automation rate trend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Cold-start vendor list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Exception report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7DD2"/>
                </a:solidFill>
              </a:rPr>
              <a:t>Finance Director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645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Real-time spend by GL / cost centre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1945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Variance analysis per vendor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743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Currency exposure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Accruals support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</a:rPr>
              <a:t>Compliance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645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Full decision log per invoice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1945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Threshold change log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743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Override report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High-value audit trail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</a:rPr>
              <a:t>CFO / COO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1645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ROI dashboard — hours saved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1945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Automation rate by entity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743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Accuracy trend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A6A"/>
                </a:solidFill>
              </a:rPr>
              <a:t>Corpus growth MoM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4348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332"/>
                </a:solidFill>
              </a:rPr>
              <a:t>The ERP sees what was posted. This system sees why, how confident, and whether a human intervened.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8F8F6"/>
                </a:solidFill>
              </a:rPr>
              <a:t>Five things competitors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8F8F6"/>
                </a:solidFill>
              </a:rPr>
              <a:t>do not have together: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1702" y="18516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243044"/>
          </a:solidFill>
          <a:ln w="381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71430" y="20071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8F6"/>
                </a:solidFill>
              </a:rPr>
              <a:t>Self-learning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71430" y="2555748"/>
            <a:ext cx="1325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B0"/>
                </a:solidFill>
              </a:rPr>
              <a:t>Write-back loop compounds automatically. No PS team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25910" y="18516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243044"/>
          </a:solidFill>
          <a:ln w="381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2335638" y="20071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8F6"/>
                </a:solidFill>
              </a:rPr>
              <a:t>Proportional governance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35638" y="2555748"/>
            <a:ext cx="1325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B0"/>
                </a:solidFill>
              </a:rPr>
              <a:t>Confidence gate scales oversight with risk. Never removes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90118" y="18516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243044"/>
          </a:solidFill>
          <a:ln w="381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999846" y="20071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8F6"/>
                </a:solidFill>
              </a:rPr>
              <a:t>Auditability by design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99846" y="2555748"/>
            <a:ext cx="1325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B0"/>
                </a:solidFill>
              </a:rPr>
              <a:t>Full provenance per decision. Not bolted on after the fact.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54326" y="18516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243044"/>
          </a:solidFill>
          <a:ln w="381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664054" y="20071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8F6"/>
                </a:solidFill>
              </a:rPr>
              <a:t>Agentic reasoning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4054" y="2555748"/>
            <a:ext cx="1325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B0"/>
                </a:solidFill>
              </a:rPr>
              <a:t>LLM explains ambiguous decisions in plain English. Clerks understand why.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18534" y="1851660"/>
            <a:ext cx="1508760" cy="2926080"/>
          </a:xfrm>
          <a:prstGeom prst="roundRect">
            <a:avLst>
              <a:gd name="adj" fmla="val 6061"/>
            </a:avLst>
          </a:prstGeom>
          <a:solidFill>
            <a:srgbClr val="243044"/>
          </a:solidFill>
          <a:ln w="381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7328262" y="20071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8F6"/>
                </a:solidFill>
              </a:rPr>
              <a:t>Multi-tenant isolation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28262" y="2555748"/>
            <a:ext cx="1325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B0"/>
                </a:solidFill>
              </a:rPr>
              <a:t>Enterprise-safe from day one. Every layer isolated per client.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7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8D8F5"/>
                </a:solidFill>
              </a:rPr>
              <a:t>AP Automation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9728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8F8F6"/>
                </a:solidFill>
              </a:rPr>
              <a:t>From manual coding to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8F8F6"/>
                </a:solidFill>
              </a:rPr>
              <a:t>self-learning automation.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8F8F6"/>
                </a:solidFill>
              </a:rPr>
              <a:t>In six weeks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332"/>
                </a:solidFill>
              </a:rPr>
              <a:t>£1,900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D8F5"/>
                </a:solidFill>
              </a:rPr>
              <a:t>monthly saving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D8F5"/>
                </a:solidFill>
              </a:rPr>
              <a:t>per 10k invoices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332"/>
                </a:solidFill>
              </a:rPr>
              <a:t>99%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D8F5"/>
                </a:solidFill>
              </a:rPr>
              <a:t>prediction accuracy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D8F5"/>
                </a:solidFill>
              </a:rPr>
              <a:t>(proven)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206931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332"/>
                </a:solidFill>
              </a:rPr>
              <a:t>6 weeks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D8F5"/>
                </a:solidFill>
              </a:rPr>
              <a:t>to production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D8F5"/>
                </a:solidFill>
              </a:rPr>
              <a:t>v1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6246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8F5"/>
                </a:solidFill>
              </a:rPr>
              <a:t>Live POC: ap-automation-tjfgztux7pwux2mu8v7ewj.streamlit.app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728</Words>
  <Application>Microsoft Office PowerPoint</Application>
  <PresentationFormat>On-screen Show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 Automation — The Business Case</dc:title>
  <dc:subject>PptxGenJS Presentation</dc:subject>
  <dc:creator>AP Automation</dc:creator>
  <cp:lastModifiedBy>Miles Waite</cp:lastModifiedBy>
  <cp:revision>2</cp:revision>
  <dcterms:created xsi:type="dcterms:W3CDTF">2026-09-30T17:53:26Z</dcterms:created>
  <dcterms:modified xsi:type="dcterms:W3CDTF">2026-10-01T06:50:49Z</dcterms:modified>
</cp:coreProperties>
</file>