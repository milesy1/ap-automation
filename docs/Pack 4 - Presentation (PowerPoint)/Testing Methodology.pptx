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20"/>
  </p:notesMasterIdLst>
  <p:handoutMasterIdLst>
    <p:handoutMasterId r:id="rId21"/>
  </p:handoutMasterIdLst>
  <p:sldIdLst>
    <p:sldId id="257" r:id="rId5"/>
    <p:sldId id="389" r:id="rId6"/>
    <p:sldId id="384" r:id="rId7"/>
    <p:sldId id="317" r:id="rId8"/>
    <p:sldId id="279" r:id="rId9"/>
    <p:sldId id="392" r:id="rId10"/>
    <p:sldId id="278" r:id="rId11"/>
    <p:sldId id="393" r:id="rId12"/>
    <p:sldId id="394" r:id="rId13"/>
    <p:sldId id="395" r:id="rId14"/>
    <p:sldId id="396" r:id="rId15"/>
    <p:sldId id="397" r:id="rId16"/>
    <p:sldId id="270" r:id="rId17"/>
    <p:sldId id="321" r:id="rId18"/>
    <p:sldId id="391" r:id="rId19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35B"/>
    <a:srgbClr val="CCE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725" autoAdjust="0"/>
  </p:normalViewPr>
  <p:slideViewPr>
    <p:cSldViewPr snapToGrid="0">
      <p:cViewPr varScale="1">
        <p:scale>
          <a:sx n="104" d="100"/>
          <a:sy n="104" d="100"/>
        </p:scale>
        <p:origin x="870" y="9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2709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14" d="100"/>
          <a:sy n="114" d="100"/>
        </p:scale>
        <p:origin x="222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2835CE-7A34-4C19-8612-1ED8545A5203}" type="doc">
      <dgm:prSet loTypeId="urn:microsoft.com/office/officeart/2024/3/layout/hArchList1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2207A715-BCE9-4981-9614-1942D96CA63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dirty="0"/>
            <a:t>‘As a user – I want – so that…’​</a:t>
          </a:r>
          <a:endParaRPr lang="en-US" dirty="0"/>
        </a:p>
      </dgm:t>
    </dgm:pt>
    <dgm:pt modelId="{B42D0E4F-31AD-4C89-A323-E0D62F592D43}" type="parTrans" cxnId="{A9A6B977-7FD2-4AF7-A3F6-F834493F949D}">
      <dgm:prSet/>
      <dgm:spPr/>
      <dgm:t>
        <a:bodyPr/>
        <a:lstStyle/>
        <a:p>
          <a:endParaRPr lang="en-US"/>
        </a:p>
      </dgm:t>
    </dgm:pt>
    <dgm:pt modelId="{25899A4B-B1B7-42A6-98E2-67ACCD413183}" type="sibTrans" cxnId="{A9A6B977-7FD2-4AF7-A3F6-F834493F949D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2A6D016C-94CC-4A7A-9E14-AA95B20E5B89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  <a:p>
          <a:pPr>
            <a:lnSpc>
              <a:spcPct val="100000"/>
            </a:lnSpc>
          </a:pPr>
          <a:r>
            <a:rPr lang="en-US" dirty="0"/>
            <a:t>is a </a:t>
          </a:r>
          <a:r>
            <a:rPr lang="en-US" b="1" dirty="0"/>
            <a:t>requirements constraint</a:t>
          </a:r>
          <a:r>
            <a:rPr lang="en-US" dirty="0"/>
            <a:t>, not a storytelling exercise.</a:t>
          </a:r>
        </a:p>
      </dgm:t>
    </dgm:pt>
    <dgm:pt modelId="{2158FF1E-147E-4128-96C2-E5D0A56C78AA}" type="parTrans" cxnId="{763FDAE7-07AB-45E6-8A58-AF273CE4CC27}">
      <dgm:prSet/>
      <dgm:spPr/>
      <dgm:t>
        <a:bodyPr/>
        <a:lstStyle/>
        <a:p>
          <a:endParaRPr lang="en-US"/>
        </a:p>
      </dgm:t>
    </dgm:pt>
    <dgm:pt modelId="{FDD6BE46-077D-4689-B42B-58333005BE69}" type="sibTrans" cxnId="{763FDAE7-07AB-45E6-8A58-AF273CE4CC27}">
      <dgm:prSet/>
      <dgm:spPr/>
      <dgm:t>
        <a:bodyPr/>
        <a:lstStyle/>
        <a:p>
          <a:endParaRPr lang="en-US"/>
        </a:p>
      </dgm:t>
    </dgm:pt>
    <dgm:pt modelId="{B5453DDD-0FD1-4295-AEA0-AD3267D77B0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dirty="0"/>
            <a:t>It explicitly couples:</a:t>
          </a:r>
          <a:endParaRPr lang="en-US" dirty="0"/>
        </a:p>
      </dgm:t>
    </dgm:pt>
    <dgm:pt modelId="{2DD3C17A-C5F9-45FA-B152-67CE43D83476}" type="parTrans" cxnId="{23191F84-40DA-44BD-8CA2-5D9CB60939DF}">
      <dgm:prSet/>
      <dgm:spPr/>
      <dgm:t>
        <a:bodyPr/>
        <a:lstStyle/>
        <a:p>
          <a:endParaRPr lang="en-US"/>
        </a:p>
      </dgm:t>
    </dgm:pt>
    <dgm:pt modelId="{62B79A5C-0490-472B-AE82-9B76F6D94676}" type="sibTrans" cxnId="{23191F84-40DA-44BD-8CA2-5D9CB60939DF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C5296E3A-E819-43A6-A2C4-EC16AEAED395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E8B3B198-DFC0-4EBF-B41E-2466A1A7AAE1}" type="parTrans" cxnId="{3C242E11-5CC9-4B39-B835-6ACF8F223CC2}">
      <dgm:prSet/>
      <dgm:spPr/>
      <dgm:t>
        <a:bodyPr/>
        <a:lstStyle/>
        <a:p>
          <a:endParaRPr lang="en-US"/>
        </a:p>
      </dgm:t>
    </dgm:pt>
    <dgm:pt modelId="{32FA8123-8F49-4817-9CA1-A9A3E99F8511}" type="sibTrans" cxnId="{3C242E11-5CC9-4B39-B835-6ACF8F223CC2}">
      <dgm:prSet/>
      <dgm:spPr/>
      <dgm:t>
        <a:bodyPr/>
        <a:lstStyle/>
        <a:p>
          <a:endParaRPr lang="en-US"/>
        </a:p>
      </dgm:t>
    </dgm:pt>
    <dgm:pt modelId="{6EC7D896-13DF-4AE0-8F6A-3D080242142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dirty="0"/>
            <a:t>This forces every requirements to be:​</a:t>
          </a:r>
          <a:endParaRPr lang="en-US" dirty="0"/>
        </a:p>
      </dgm:t>
    </dgm:pt>
    <dgm:pt modelId="{DBF273A5-48AC-4141-87D6-BF087CFFDAF9}" type="parTrans" cxnId="{4D5A7D66-B8A2-4F97-BE5F-E7A830C8C887}">
      <dgm:prSet/>
      <dgm:spPr/>
      <dgm:t>
        <a:bodyPr/>
        <a:lstStyle/>
        <a:p>
          <a:endParaRPr lang="en-US"/>
        </a:p>
      </dgm:t>
    </dgm:pt>
    <dgm:pt modelId="{6AA1BB79-9907-477C-BC0B-C04DC63DA2B8}" type="sibTrans" cxnId="{4D5A7D66-B8A2-4F97-BE5F-E7A830C8C887}">
      <dgm:prSet/>
      <dgm:spPr/>
      <dgm:t>
        <a:bodyPr/>
        <a:lstStyle/>
        <a:p>
          <a:endParaRPr lang="en-US"/>
        </a:p>
      </dgm:t>
    </dgm:pt>
    <dgm:pt modelId="{BA9FCC48-4A5E-4ACD-809B-EDDA27E7ADDC}">
      <dgm:prSet/>
      <dgm:spPr/>
      <dgm:t>
        <a:bodyPr/>
        <a:lstStyle/>
        <a:p>
          <a:pPr>
            <a:lnSpc>
              <a:spcPct val="100000"/>
            </a:lnSpc>
          </a:pPr>
          <a:endParaRPr lang="en-GB" dirty="0"/>
        </a:p>
        <a:p>
          <a:pPr>
            <a:lnSpc>
              <a:spcPct val="100000"/>
            </a:lnSpc>
          </a:pPr>
          <a:r>
            <a:rPr lang="en-US" b="1" dirty="0"/>
            <a:t>Testable</a:t>
          </a:r>
          <a:r>
            <a:rPr lang="en-US" dirty="0"/>
            <a:t> — the “so that” becomes a success criteria</a:t>
          </a:r>
        </a:p>
      </dgm:t>
    </dgm:pt>
    <dgm:pt modelId="{728EF1FB-EE3C-4858-854A-69DE325A0328}" type="parTrans" cxnId="{FC188DC6-FDDB-4F45-B7C1-5D9705D4C191}">
      <dgm:prSet/>
      <dgm:spPr/>
      <dgm:t>
        <a:bodyPr/>
        <a:lstStyle/>
        <a:p>
          <a:endParaRPr lang="en-US"/>
        </a:p>
      </dgm:t>
    </dgm:pt>
    <dgm:pt modelId="{35E484E0-E4BA-41CA-B2AB-B8584A33DA3A}" type="sibTrans" cxnId="{FC188DC6-FDDB-4F45-B7C1-5D9705D4C191}">
      <dgm:prSet/>
      <dgm:spPr/>
      <dgm:t>
        <a:bodyPr/>
        <a:lstStyle/>
        <a:p>
          <a:endParaRPr lang="en-US"/>
        </a:p>
      </dgm:t>
    </dgm:pt>
    <dgm:pt modelId="{64F6FBCD-449B-440E-8CF7-3E99A311D5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Capability</a:t>
          </a:r>
          <a:r>
            <a:rPr lang="en-US"/>
            <a:t> (what the system must do)</a:t>
          </a:r>
        </a:p>
      </dgm:t>
    </dgm:pt>
    <dgm:pt modelId="{142B897D-1C8D-41C7-B73F-A6E2F3917315}" type="parTrans" cxnId="{C381958D-924C-426D-B081-6351ED854622}">
      <dgm:prSet/>
      <dgm:spPr/>
      <dgm:t>
        <a:bodyPr/>
        <a:lstStyle/>
        <a:p>
          <a:endParaRPr lang="en-GB"/>
        </a:p>
      </dgm:t>
    </dgm:pt>
    <dgm:pt modelId="{D9F140FC-F104-4BDB-A675-22363D8E54C2}" type="sibTrans" cxnId="{C381958D-924C-426D-B081-6351ED854622}">
      <dgm:prSet/>
      <dgm:spPr/>
      <dgm:t>
        <a:bodyPr/>
        <a:lstStyle/>
        <a:p>
          <a:endParaRPr lang="en-GB"/>
        </a:p>
      </dgm:t>
    </dgm:pt>
    <dgm:pt modelId="{601DA7BA-9A5D-4F86-B2E8-829DBC1185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Intent</a:t>
          </a:r>
          <a:r>
            <a:rPr lang="en-US" dirty="0"/>
            <a:t> (the decision, </a:t>
          </a:r>
          <a:r>
            <a:rPr lang="en-US" dirty="0" err="1"/>
            <a:t>behaviour</a:t>
          </a:r>
          <a:r>
            <a:rPr lang="en-US" dirty="0"/>
            <a:t>, or outcome)</a:t>
          </a:r>
        </a:p>
        <a:p>
          <a:pPr>
            <a:lnSpc>
              <a:spcPct val="100000"/>
            </a:lnSpc>
          </a:pPr>
          <a:endParaRPr lang="en-US" dirty="0"/>
        </a:p>
      </dgm:t>
    </dgm:pt>
    <dgm:pt modelId="{A425069C-F060-4515-88A8-02F6559E3CB6}" type="parTrans" cxnId="{73D2EA7C-BA12-4038-B3B5-A3C8D93C39F0}">
      <dgm:prSet/>
      <dgm:spPr/>
      <dgm:t>
        <a:bodyPr/>
        <a:lstStyle/>
        <a:p>
          <a:endParaRPr lang="en-GB"/>
        </a:p>
      </dgm:t>
    </dgm:pt>
    <dgm:pt modelId="{5575E946-B670-411F-BF05-EFA9D7A88066}" type="sibTrans" cxnId="{73D2EA7C-BA12-4038-B3B5-A3C8D93C39F0}">
      <dgm:prSet/>
      <dgm:spPr/>
      <dgm:t>
        <a:bodyPr/>
        <a:lstStyle/>
        <a:p>
          <a:endParaRPr lang="en-GB"/>
        </a:p>
      </dgm:t>
    </dgm:pt>
    <dgm:pt modelId="{77AFC1EC-0B48-4007-9B65-85C3107476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Traceable</a:t>
          </a:r>
          <a:r>
            <a:rPr lang="en-US"/>
            <a:t> — you can map features → user outcomes → business objectives</a:t>
          </a:r>
        </a:p>
      </dgm:t>
    </dgm:pt>
    <dgm:pt modelId="{C7E20884-6130-4574-8705-E90E6B4B33DF}" type="parTrans" cxnId="{1D6B6842-09FA-4107-8DC0-F7F077DCA6CA}">
      <dgm:prSet/>
      <dgm:spPr/>
      <dgm:t>
        <a:bodyPr/>
        <a:lstStyle/>
        <a:p>
          <a:endParaRPr lang="en-GB"/>
        </a:p>
      </dgm:t>
    </dgm:pt>
    <dgm:pt modelId="{94393BB4-5166-4984-A4F3-050D48A53DD0}" type="sibTrans" cxnId="{1D6B6842-09FA-4107-8DC0-F7F077DCA6CA}">
      <dgm:prSet/>
      <dgm:spPr/>
      <dgm:t>
        <a:bodyPr/>
        <a:lstStyle/>
        <a:p>
          <a:endParaRPr lang="en-GB"/>
        </a:p>
      </dgm:t>
    </dgm:pt>
    <dgm:pt modelId="{1DCCC0E1-9FA1-477C-9788-BFB853D830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Defensible</a:t>
          </a:r>
          <a:r>
            <a:rPr lang="en-US" dirty="0"/>
            <a:t> — if the outcome isn’t clear, the requirement is weak or unnecessary</a:t>
          </a:r>
        </a:p>
      </dgm:t>
    </dgm:pt>
    <dgm:pt modelId="{4C342841-9B27-4FD5-9E1A-72044CCDEFAA}" type="parTrans" cxnId="{4162ABA2-7CF6-4CB5-933F-647329008579}">
      <dgm:prSet/>
      <dgm:spPr/>
      <dgm:t>
        <a:bodyPr/>
        <a:lstStyle/>
        <a:p>
          <a:endParaRPr lang="en-GB"/>
        </a:p>
      </dgm:t>
    </dgm:pt>
    <dgm:pt modelId="{D27CCDAE-7859-4A64-AA4E-1F0B85D45020}" type="sibTrans" cxnId="{4162ABA2-7CF6-4CB5-933F-647329008579}">
      <dgm:prSet/>
      <dgm:spPr/>
      <dgm:t>
        <a:bodyPr/>
        <a:lstStyle/>
        <a:p>
          <a:endParaRPr lang="en-GB"/>
        </a:p>
      </dgm:t>
    </dgm:pt>
    <dgm:pt modelId="{EA0B00E9-16FB-4B6C-99CC-5CB1ED3ED2F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​</a:t>
          </a:r>
          <a:endParaRPr lang="en-US" dirty="0"/>
        </a:p>
      </dgm:t>
    </dgm:pt>
    <dgm:pt modelId="{C4A17CB4-F073-4B46-9D48-71176F392F86}" type="parTrans" cxnId="{1A1AC423-6602-4510-92AF-EFFEF10D7507}">
      <dgm:prSet/>
      <dgm:spPr/>
      <dgm:t>
        <a:bodyPr/>
        <a:lstStyle/>
        <a:p>
          <a:endParaRPr lang="en-GB"/>
        </a:p>
      </dgm:t>
    </dgm:pt>
    <dgm:pt modelId="{9DC3469D-46BE-49AD-AEA7-5857DB869958}" type="sibTrans" cxnId="{1A1AC423-6602-4510-92AF-EFFEF10D7507}">
      <dgm:prSet/>
      <dgm:spPr/>
      <dgm:t>
        <a:bodyPr/>
        <a:lstStyle/>
        <a:p>
          <a:endParaRPr lang="en-GB"/>
        </a:p>
      </dgm:t>
    </dgm:pt>
    <dgm:pt modelId="{3434A7A6-A17E-475D-B328-35EDB83D9CDD}" type="pres">
      <dgm:prSet presAssocID="{482835CE-7A34-4C19-8612-1ED8545A5203}" presName="Name0" presStyleCnt="0">
        <dgm:presLayoutVars>
          <dgm:dir/>
          <dgm:resizeHandles val="exact"/>
        </dgm:presLayoutVars>
      </dgm:prSet>
      <dgm:spPr/>
    </dgm:pt>
    <dgm:pt modelId="{CCA3334D-961D-47BB-B78B-144C11BD5FAE}" type="pres">
      <dgm:prSet presAssocID="{2207A715-BCE9-4981-9614-1942D96CA63A}" presName="compNode" presStyleCnt="0"/>
      <dgm:spPr/>
    </dgm:pt>
    <dgm:pt modelId="{77C8D4A4-A9FA-4CB4-B968-C32BECF86AAB}" type="pres">
      <dgm:prSet presAssocID="{2207A715-BCE9-4981-9614-1942D96CA63A}" presName="pictRect" presStyleLbl="revTx" presStyleIdx="0" presStyleCnt="6">
        <dgm:presLayoutVars>
          <dgm:chMax val="0"/>
          <dgm:bulletEnabled/>
        </dgm:presLayoutVars>
      </dgm:prSet>
      <dgm:spPr/>
    </dgm:pt>
    <dgm:pt modelId="{3B00D074-1C9E-48D4-839F-21C5776CCB98}" type="pres">
      <dgm:prSet presAssocID="{2207A715-BCE9-4981-9614-1942D96CA63A}" presName="textRect" presStyleLbl="revTx" presStyleIdx="1" presStyleCnt="6">
        <dgm:presLayoutVars>
          <dgm:bulletEnabled/>
        </dgm:presLayoutVars>
      </dgm:prSet>
      <dgm:spPr/>
    </dgm:pt>
    <dgm:pt modelId="{D9F4EFE7-08E3-4794-81CF-978F7F80FEC2}" type="pres">
      <dgm:prSet presAssocID="{25899A4B-B1B7-42A6-98E2-67ACCD413183}" presName="sibTrans" presStyleLbl="sibTrans2D1" presStyleIdx="0" presStyleCnt="0"/>
      <dgm:spPr/>
    </dgm:pt>
    <dgm:pt modelId="{E262FEB0-E824-45CD-A002-3A47FAA515D9}" type="pres">
      <dgm:prSet presAssocID="{B5453DDD-0FD1-4295-AEA0-AD3267D77B04}" presName="compNode" presStyleCnt="0"/>
      <dgm:spPr/>
    </dgm:pt>
    <dgm:pt modelId="{F96F3CDC-E339-4F6E-8250-030659AC1208}" type="pres">
      <dgm:prSet presAssocID="{B5453DDD-0FD1-4295-AEA0-AD3267D77B04}" presName="pictRect" presStyleLbl="revTx" presStyleIdx="2" presStyleCnt="6">
        <dgm:presLayoutVars>
          <dgm:chMax val="0"/>
          <dgm:bulletEnabled/>
        </dgm:presLayoutVars>
      </dgm:prSet>
      <dgm:spPr/>
    </dgm:pt>
    <dgm:pt modelId="{C0BBF245-CD4D-4E68-9B38-EDC063A5A212}" type="pres">
      <dgm:prSet presAssocID="{B5453DDD-0FD1-4295-AEA0-AD3267D77B04}" presName="textRect" presStyleLbl="revTx" presStyleIdx="3" presStyleCnt="6">
        <dgm:presLayoutVars>
          <dgm:bulletEnabled/>
        </dgm:presLayoutVars>
      </dgm:prSet>
      <dgm:spPr/>
    </dgm:pt>
    <dgm:pt modelId="{EDC3E92C-E17D-4A21-9E97-DD94B5B33F88}" type="pres">
      <dgm:prSet presAssocID="{62B79A5C-0490-472B-AE82-9B76F6D94676}" presName="sibTrans" presStyleLbl="sibTrans2D1" presStyleIdx="0" presStyleCnt="0"/>
      <dgm:spPr/>
    </dgm:pt>
    <dgm:pt modelId="{6A1BD29C-6041-4BCF-A40A-3F90D6791CF8}" type="pres">
      <dgm:prSet presAssocID="{6EC7D896-13DF-4AE0-8F6A-3D080242142F}" presName="compNode" presStyleCnt="0"/>
      <dgm:spPr/>
    </dgm:pt>
    <dgm:pt modelId="{5643DAD7-0002-49FE-946B-DCB4A3C06344}" type="pres">
      <dgm:prSet presAssocID="{6EC7D896-13DF-4AE0-8F6A-3D080242142F}" presName="pictRect" presStyleLbl="revTx" presStyleIdx="4" presStyleCnt="6">
        <dgm:presLayoutVars>
          <dgm:chMax val="0"/>
          <dgm:bulletEnabled/>
        </dgm:presLayoutVars>
      </dgm:prSet>
      <dgm:spPr/>
    </dgm:pt>
    <dgm:pt modelId="{3CAFE988-6B48-4C59-BB01-8B80256084C0}" type="pres">
      <dgm:prSet presAssocID="{6EC7D896-13DF-4AE0-8F6A-3D080242142F}" presName="textRect" presStyleLbl="revTx" presStyleIdx="5" presStyleCnt="6">
        <dgm:presLayoutVars>
          <dgm:bulletEnabled/>
        </dgm:presLayoutVars>
      </dgm:prSet>
      <dgm:spPr/>
    </dgm:pt>
  </dgm:ptLst>
  <dgm:cxnLst>
    <dgm:cxn modelId="{2380530F-3959-4DAD-9B19-3CF12CF1CB7E}" type="presOf" srcId="{77AFC1EC-0B48-4007-9B65-85C310747649}" destId="{3CAFE988-6B48-4C59-BB01-8B80256084C0}" srcOrd="0" destOrd="1" presId="urn:microsoft.com/office/officeart/2024/3/layout/hArchList1"/>
    <dgm:cxn modelId="{3C242E11-5CC9-4B39-B835-6ACF8F223CC2}" srcId="{B5453DDD-0FD1-4295-AEA0-AD3267D77B04}" destId="{C5296E3A-E819-43A6-A2C4-EC16AEAED395}" srcOrd="0" destOrd="0" parTransId="{E8B3B198-DFC0-4EBF-B41E-2466A1A7AAE1}" sibTransId="{32FA8123-8F49-4817-9CA1-A9A3E99F8511}"/>
    <dgm:cxn modelId="{8D9A7423-FD1B-4756-A38A-DA418B2ECD18}" type="presOf" srcId="{62B79A5C-0490-472B-AE82-9B76F6D94676}" destId="{EDC3E92C-E17D-4A21-9E97-DD94B5B33F88}" srcOrd="0" destOrd="0" presId="urn:microsoft.com/office/officeart/2024/3/layout/hArchList1"/>
    <dgm:cxn modelId="{1A1AC423-6602-4510-92AF-EFFEF10D7507}" srcId="{6EC7D896-13DF-4AE0-8F6A-3D080242142F}" destId="{EA0B00E9-16FB-4B6C-99CC-5CB1ED3ED2F9}" srcOrd="3" destOrd="0" parTransId="{C4A17CB4-F073-4B46-9D48-71176F392F86}" sibTransId="{9DC3469D-46BE-49AD-AEA7-5857DB869958}"/>
    <dgm:cxn modelId="{A2EEB52F-88D2-4865-BBDC-4521226D9D43}" type="presOf" srcId="{EA0B00E9-16FB-4B6C-99CC-5CB1ED3ED2F9}" destId="{3CAFE988-6B48-4C59-BB01-8B80256084C0}" srcOrd="0" destOrd="3" presId="urn:microsoft.com/office/officeart/2024/3/layout/hArchList1"/>
    <dgm:cxn modelId="{CAC42261-02B0-4B4C-B8A5-9686B7DBCE86}" type="presOf" srcId="{25899A4B-B1B7-42A6-98E2-67ACCD413183}" destId="{D9F4EFE7-08E3-4794-81CF-978F7F80FEC2}" srcOrd="0" destOrd="0" presId="urn:microsoft.com/office/officeart/2024/3/layout/hArchList1"/>
    <dgm:cxn modelId="{1D6B6842-09FA-4107-8DC0-F7F077DCA6CA}" srcId="{6EC7D896-13DF-4AE0-8F6A-3D080242142F}" destId="{77AFC1EC-0B48-4007-9B65-85C310747649}" srcOrd="1" destOrd="0" parTransId="{C7E20884-6130-4574-8705-E90E6B4B33DF}" sibTransId="{94393BB4-5166-4984-A4F3-050D48A53DD0}"/>
    <dgm:cxn modelId="{0309C244-11E1-4C15-95BC-80A4B76BF262}" type="presOf" srcId="{B5453DDD-0FD1-4295-AEA0-AD3267D77B04}" destId="{F96F3CDC-E339-4F6E-8250-030659AC1208}" srcOrd="0" destOrd="0" presId="urn:microsoft.com/office/officeart/2024/3/layout/hArchList1"/>
    <dgm:cxn modelId="{4D5A7D66-B8A2-4F97-BE5F-E7A830C8C887}" srcId="{482835CE-7A34-4C19-8612-1ED8545A5203}" destId="{6EC7D896-13DF-4AE0-8F6A-3D080242142F}" srcOrd="2" destOrd="0" parTransId="{DBF273A5-48AC-4141-87D6-BF087CFFDAF9}" sibTransId="{6AA1BB79-9907-477C-BC0B-C04DC63DA2B8}"/>
    <dgm:cxn modelId="{AAA8E047-325B-4C98-92F0-6C64038ECCDC}" type="presOf" srcId="{64F6FBCD-449B-440E-8CF7-3E99A311D575}" destId="{C0BBF245-CD4D-4E68-9B38-EDC063A5A212}" srcOrd="0" destOrd="1" presId="urn:microsoft.com/office/officeart/2024/3/layout/hArchList1"/>
    <dgm:cxn modelId="{989BDB6F-E62E-4997-9AF0-CE52F61D593B}" type="presOf" srcId="{1DCCC0E1-9FA1-477C-9788-BFB853D830A6}" destId="{3CAFE988-6B48-4C59-BB01-8B80256084C0}" srcOrd="0" destOrd="2" presId="urn:microsoft.com/office/officeart/2024/3/layout/hArchList1"/>
    <dgm:cxn modelId="{A9A6B977-7FD2-4AF7-A3F6-F834493F949D}" srcId="{482835CE-7A34-4C19-8612-1ED8545A5203}" destId="{2207A715-BCE9-4981-9614-1942D96CA63A}" srcOrd="0" destOrd="0" parTransId="{B42D0E4F-31AD-4C89-A323-E0D62F592D43}" sibTransId="{25899A4B-B1B7-42A6-98E2-67ACCD413183}"/>
    <dgm:cxn modelId="{73D2EA7C-BA12-4038-B3B5-A3C8D93C39F0}" srcId="{B5453DDD-0FD1-4295-AEA0-AD3267D77B04}" destId="{601DA7BA-9A5D-4F86-B2E8-829DBC118524}" srcOrd="2" destOrd="0" parTransId="{A425069C-F060-4515-88A8-02F6559E3CB6}" sibTransId="{5575E946-B670-411F-BF05-EFA9D7A88066}"/>
    <dgm:cxn modelId="{23191F84-40DA-44BD-8CA2-5D9CB60939DF}" srcId="{482835CE-7A34-4C19-8612-1ED8545A5203}" destId="{B5453DDD-0FD1-4295-AEA0-AD3267D77B04}" srcOrd="1" destOrd="0" parTransId="{2DD3C17A-C5F9-45FA-B152-67CE43D83476}" sibTransId="{62B79A5C-0490-472B-AE82-9B76F6D94676}"/>
    <dgm:cxn modelId="{3E1C7C84-27E3-4806-8CE8-E9673D324841}" type="presOf" srcId="{2A6D016C-94CC-4A7A-9E14-AA95B20E5B89}" destId="{3B00D074-1C9E-48D4-839F-21C5776CCB98}" srcOrd="0" destOrd="0" presId="urn:microsoft.com/office/officeart/2024/3/layout/hArchList1"/>
    <dgm:cxn modelId="{C381958D-924C-426D-B081-6351ED854622}" srcId="{B5453DDD-0FD1-4295-AEA0-AD3267D77B04}" destId="{64F6FBCD-449B-440E-8CF7-3E99A311D575}" srcOrd="1" destOrd="0" parTransId="{142B897D-1C8D-41C7-B73F-A6E2F3917315}" sibTransId="{D9F140FC-F104-4BDB-A675-22363D8E54C2}"/>
    <dgm:cxn modelId="{C045DE8D-5873-4744-99C2-ACE40934168D}" type="presOf" srcId="{BA9FCC48-4A5E-4ACD-809B-EDDA27E7ADDC}" destId="{3CAFE988-6B48-4C59-BB01-8B80256084C0}" srcOrd="0" destOrd="0" presId="urn:microsoft.com/office/officeart/2024/3/layout/hArchList1"/>
    <dgm:cxn modelId="{CA5395A0-D521-4D7C-B73E-6F488B22C6C9}" type="presOf" srcId="{601DA7BA-9A5D-4F86-B2E8-829DBC118524}" destId="{C0BBF245-CD4D-4E68-9B38-EDC063A5A212}" srcOrd="0" destOrd="2" presId="urn:microsoft.com/office/officeart/2024/3/layout/hArchList1"/>
    <dgm:cxn modelId="{4162ABA2-7CF6-4CB5-933F-647329008579}" srcId="{6EC7D896-13DF-4AE0-8F6A-3D080242142F}" destId="{1DCCC0E1-9FA1-477C-9788-BFB853D830A6}" srcOrd="2" destOrd="0" parTransId="{4C342841-9B27-4FD5-9E1A-72044CCDEFAA}" sibTransId="{D27CCDAE-7859-4A64-AA4E-1F0B85D45020}"/>
    <dgm:cxn modelId="{AE0A9DA6-2D26-4475-8CD1-B50B378E5A69}" type="presOf" srcId="{6EC7D896-13DF-4AE0-8F6A-3D080242142F}" destId="{5643DAD7-0002-49FE-946B-DCB4A3C06344}" srcOrd="0" destOrd="0" presId="urn:microsoft.com/office/officeart/2024/3/layout/hArchList1"/>
    <dgm:cxn modelId="{B590CDA7-C8F9-4348-ABA2-462CD83B7971}" type="presOf" srcId="{2207A715-BCE9-4981-9614-1942D96CA63A}" destId="{77C8D4A4-A9FA-4CB4-B968-C32BECF86AAB}" srcOrd="0" destOrd="0" presId="urn:microsoft.com/office/officeart/2024/3/layout/hArchList1"/>
    <dgm:cxn modelId="{FC188DC6-FDDB-4F45-B7C1-5D9705D4C191}" srcId="{6EC7D896-13DF-4AE0-8F6A-3D080242142F}" destId="{BA9FCC48-4A5E-4ACD-809B-EDDA27E7ADDC}" srcOrd="0" destOrd="0" parTransId="{728EF1FB-EE3C-4858-854A-69DE325A0328}" sibTransId="{35E484E0-E4BA-41CA-B2AB-B8584A33DA3A}"/>
    <dgm:cxn modelId="{D3E388CD-AED1-4A9E-ACBA-929B01A5D61E}" type="presOf" srcId="{482835CE-7A34-4C19-8612-1ED8545A5203}" destId="{3434A7A6-A17E-475D-B328-35EDB83D9CDD}" srcOrd="0" destOrd="0" presId="urn:microsoft.com/office/officeart/2024/3/layout/hArchList1"/>
    <dgm:cxn modelId="{65A450E1-2E36-4D72-88FD-F1A24DB6E724}" type="presOf" srcId="{C5296E3A-E819-43A6-A2C4-EC16AEAED395}" destId="{C0BBF245-CD4D-4E68-9B38-EDC063A5A212}" srcOrd="0" destOrd="0" presId="urn:microsoft.com/office/officeart/2024/3/layout/hArchList1"/>
    <dgm:cxn modelId="{763FDAE7-07AB-45E6-8A58-AF273CE4CC27}" srcId="{2207A715-BCE9-4981-9614-1942D96CA63A}" destId="{2A6D016C-94CC-4A7A-9E14-AA95B20E5B89}" srcOrd="0" destOrd="0" parTransId="{2158FF1E-147E-4128-96C2-E5D0A56C78AA}" sibTransId="{FDD6BE46-077D-4689-B42B-58333005BE69}"/>
    <dgm:cxn modelId="{6BB3A730-3792-4A0C-9C84-C066BD577D23}" type="presParOf" srcId="{3434A7A6-A17E-475D-B328-35EDB83D9CDD}" destId="{CCA3334D-961D-47BB-B78B-144C11BD5FAE}" srcOrd="0" destOrd="0" presId="urn:microsoft.com/office/officeart/2024/3/layout/hArchList1"/>
    <dgm:cxn modelId="{6AAB5D88-0014-4A3F-9511-B3819C4F0297}" type="presParOf" srcId="{CCA3334D-961D-47BB-B78B-144C11BD5FAE}" destId="{77C8D4A4-A9FA-4CB4-B968-C32BECF86AAB}" srcOrd="0" destOrd="0" presId="urn:microsoft.com/office/officeart/2024/3/layout/hArchList1"/>
    <dgm:cxn modelId="{CB041D97-E0F6-4DF0-A827-F033CC9E95E8}" type="presParOf" srcId="{CCA3334D-961D-47BB-B78B-144C11BD5FAE}" destId="{3B00D074-1C9E-48D4-839F-21C5776CCB98}" srcOrd="1" destOrd="0" presId="urn:microsoft.com/office/officeart/2024/3/layout/hArchList1"/>
    <dgm:cxn modelId="{48E096A7-EF65-4CFC-98EE-1DA837837091}" type="presParOf" srcId="{3434A7A6-A17E-475D-B328-35EDB83D9CDD}" destId="{D9F4EFE7-08E3-4794-81CF-978F7F80FEC2}" srcOrd="1" destOrd="0" presId="urn:microsoft.com/office/officeart/2024/3/layout/hArchList1"/>
    <dgm:cxn modelId="{E5CBB2F3-99CF-4202-AD32-75E0C1BDFC33}" type="presParOf" srcId="{3434A7A6-A17E-475D-B328-35EDB83D9CDD}" destId="{E262FEB0-E824-45CD-A002-3A47FAA515D9}" srcOrd="2" destOrd="0" presId="urn:microsoft.com/office/officeart/2024/3/layout/hArchList1"/>
    <dgm:cxn modelId="{DFD7F06D-4A2A-4A49-987E-D3A10CFAE7F4}" type="presParOf" srcId="{E262FEB0-E824-45CD-A002-3A47FAA515D9}" destId="{F96F3CDC-E339-4F6E-8250-030659AC1208}" srcOrd="0" destOrd="0" presId="urn:microsoft.com/office/officeart/2024/3/layout/hArchList1"/>
    <dgm:cxn modelId="{DDFA42FA-210C-4FE8-B8B8-211911665988}" type="presParOf" srcId="{E262FEB0-E824-45CD-A002-3A47FAA515D9}" destId="{C0BBF245-CD4D-4E68-9B38-EDC063A5A212}" srcOrd="1" destOrd="0" presId="urn:microsoft.com/office/officeart/2024/3/layout/hArchList1"/>
    <dgm:cxn modelId="{2A418055-B320-4161-99A4-226A7B1A7B37}" type="presParOf" srcId="{3434A7A6-A17E-475D-B328-35EDB83D9CDD}" destId="{EDC3E92C-E17D-4A21-9E97-DD94B5B33F88}" srcOrd="3" destOrd="0" presId="urn:microsoft.com/office/officeart/2024/3/layout/hArchList1"/>
    <dgm:cxn modelId="{8BF159C8-A9BE-450E-B1F8-51041F162D6E}" type="presParOf" srcId="{3434A7A6-A17E-475D-B328-35EDB83D9CDD}" destId="{6A1BD29C-6041-4BCF-A40A-3F90D6791CF8}" srcOrd="4" destOrd="0" presId="urn:microsoft.com/office/officeart/2024/3/layout/hArchList1"/>
    <dgm:cxn modelId="{C9AB8685-2DCD-41CC-8AFC-EA27198CD239}" type="presParOf" srcId="{6A1BD29C-6041-4BCF-A40A-3F90D6791CF8}" destId="{5643DAD7-0002-49FE-946B-DCB4A3C06344}" srcOrd="0" destOrd="0" presId="urn:microsoft.com/office/officeart/2024/3/layout/hArchList1"/>
    <dgm:cxn modelId="{B53CD446-DAA8-4A3C-AB37-244A2D43581F}" type="presParOf" srcId="{6A1BD29C-6041-4BCF-A40A-3F90D6791CF8}" destId="{3CAFE988-6B48-4C59-BB01-8B80256084C0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C8D4A4-A9FA-4CB4-B968-C32BECF86AAB}">
      <dsp:nvSpPr>
        <dsp:cNvPr id="0" name=""/>
        <dsp:cNvSpPr/>
      </dsp:nvSpPr>
      <dsp:spPr>
        <a:xfrm>
          <a:off x="0" y="0"/>
          <a:ext cx="3465710" cy="583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800" kern="1200" dirty="0"/>
            <a:t>‘As a user – I want – so that…’​</a:t>
          </a:r>
          <a:endParaRPr lang="en-US" sz="1800" kern="1200" dirty="0"/>
        </a:p>
      </dsp:txBody>
      <dsp:txXfrm>
        <a:off x="0" y="0"/>
        <a:ext cx="3465710" cy="583272"/>
      </dsp:txXfrm>
    </dsp:sp>
    <dsp:sp modelId="{3B00D074-1C9E-48D4-839F-21C5776CCB98}">
      <dsp:nvSpPr>
        <dsp:cNvPr id="0" name=""/>
        <dsp:cNvSpPr/>
      </dsp:nvSpPr>
      <dsp:spPr>
        <a:xfrm>
          <a:off x="0" y="583272"/>
          <a:ext cx="3465710" cy="3396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is a </a:t>
          </a:r>
          <a:r>
            <a:rPr lang="en-US" sz="1400" b="1" kern="1200" dirty="0"/>
            <a:t>requirements constraint</a:t>
          </a:r>
          <a:r>
            <a:rPr lang="en-US" sz="1400" kern="1200" dirty="0"/>
            <a:t>, not a storytelling exercise.</a:t>
          </a:r>
        </a:p>
      </dsp:txBody>
      <dsp:txXfrm>
        <a:off x="0" y="583272"/>
        <a:ext cx="3465710" cy="3396352"/>
      </dsp:txXfrm>
    </dsp:sp>
    <dsp:sp modelId="{F96F3CDC-E339-4F6E-8250-030659AC1208}">
      <dsp:nvSpPr>
        <dsp:cNvPr id="0" name=""/>
        <dsp:cNvSpPr/>
      </dsp:nvSpPr>
      <dsp:spPr>
        <a:xfrm>
          <a:off x="3812281" y="0"/>
          <a:ext cx="3465710" cy="583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800" kern="1200" dirty="0"/>
            <a:t>It explicitly couples:</a:t>
          </a:r>
          <a:endParaRPr lang="en-US" sz="1800" kern="1200" dirty="0"/>
        </a:p>
      </dsp:txBody>
      <dsp:txXfrm>
        <a:off x="3812281" y="0"/>
        <a:ext cx="3465710" cy="583272"/>
      </dsp:txXfrm>
    </dsp:sp>
    <dsp:sp modelId="{C0BBF245-CD4D-4E68-9B38-EDC063A5A212}">
      <dsp:nvSpPr>
        <dsp:cNvPr id="0" name=""/>
        <dsp:cNvSpPr/>
      </dsp:nvSpPr>
      <dsp:spPr>
        <a:xfrm>
          <a:off x="3812281" y="583272"/>
          <a:ext cx="3465710" cy="3396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Capability</a:t>
          </a:r>
          <a:r>
            <a:rPr lang="en-US" sz="1400" kern="1200"/>
            <a:t> (what the system must do)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Intent</a:t>
          </a:r>
          <a:r>
            <a:rPr lang="en-US" sz="1400" kern="1200" dirty="0"/>
            <a:t> (the decision, </a:t>
          </a:r>
          <a:r>
            <a:rPr lang="en-US" sz="1400" kern="1200" dirty="0" err="1"/>
            <a:t>behaviour</a:t>
          </a:r>
          <a:r>
            <a:rPr lang="en-US" sz="1400" kern="1200" dirty="0"/>
            <a:t>, or outcome)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3812281" y="583272"/>
        <a:ext cx="3465710" cy="3396352"/>
      </dsp:txXfrm>
    </dsp:sp>
    <dsp:sp modelId="{5643DAD7-0002-49FE-946B-DCB4A3C06344}">
      <dsp:nvSpPr>
        <dsp:cNvPr id="0" name=""/>
        <dsp:cNvSpPr/>
      </dsp:nvSpPr>
      <dsp:spPr>
        <a:xfrm>
          <a:off x="7624563" y="0"/>
          <a:ext cx="3465710" cy="583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800" kern="1200" dirty="0"/>
            <a:t>This forces every requirements to be:​</a:t>
          </a:r>
          <a:endParaRPr lang="en-US" sz="1800" kern="1200" dirty="0"/>
        </a:p>
      </dsp:txBody>
      <dsp:txXfrm>
        <a:off x="7624563" y="0"/>
        <a:ext cx="3465710" cy="583272"/>
      </dsp:txXfrm>
    </dsp:sp>
    <dsp:sp modelId="{3CAFE988-6B48-4C59-BB01-8B80256084C0}">
      <dsp:nvSpPr>
        <dsp:cNvPr id="0" name=""/>
        <dsp:cNvSpPr/>
      </dsp:nvSpPr>
      <dsp:spPr>
        <a:xfrm>
          <a:off x="7624563" y="583272"/>
          <a:ext cx="3465710" cy="3396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Testable</a:t>
          </a:r>
          <a:r>
            <a:rPr lang="en-US" sz="1400" kern="1200" dirty="0"/>
            <a:t> — the “so that” becomes a success criteria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Traceable</a:t>
          </a:r>
          <a:r>
            <a:rPr lang="en-US" sz="1400" kern="1200"/>
            <a:t> — you can map features → user outcomes → business objectives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Defensible</a:t>
          </a:r>
          <a:r>
            <a:rPr lang="en-US" sz="1400" kern="1200" dirty="0"/>
            <a:t> — if the outcome isn’t clear, the requirement is weak or unnecessary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​</a:t>
          </a:r>
          <a:endParaRPr lang="en-US" sz="1400" kern="1200" dirty="0"/>
        </a:p>
      </dsp:txBody>
      <dsp:txXfrm>
        <a:off x="7624563" y="583272"/>
        <a:ext cx="3465710" cy="33963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1471C2C-1567-47F4-803E-468024209D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F5B09-2954-46C6-97BB-9E10649FE2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BE77BE8-C92C-4478-BEC0-BA685856F54D}" type="datetime1">
              <a:rPr lang="en-GB" smtClean="0"/>
              <a:t>02/09/2026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9A204B-EBA9-4C6D-BFB2-A104F00C8E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5F72FC-4D2D-4E5B-A4DD-62E2C822FB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23CDBB5-5B4A-4483-935D-A73935186B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23779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F695629-D1D6-472E-AD8D-B841B09640C4}" type="datetime1">
              <a:rPr lang="en-GB" smtClean="0"/>
              <a:t>02/09/2026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7CCE34D-CFF1-4FFE-815B-D050E7ED2D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936288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n-GB" smtClean="0"/>
              <a:t>1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638BEA-13B4-4493-97CD-5DE13059197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1A5657D3-E8CC-402E-9DD0-BFC4FEBDA829}" type="datetime1">
              <a:rPr lang="en-GB" smtClean="0"/>
              <a:t>02/09/2026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835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n-GB" smtClean="0"/>
              <a:t>3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36479-B33C-4E9E-958F-BBF3C03504C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B51B7869-5591-4607-903C-BC169E9BB981}" type="datetime1">
              <a:rPr lang="en-GB" smtClean="0"/>
              <a:t>02/09/2026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331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n-GB" smtClean="0"/>
              <a:t>4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05651-8D30-45CE-BFC9-45372C89715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8307B592-45D3-43FD-9CAB-CF71C4EA4E88}" type="datetime1">
              <a:rPr lang="en-GB" smtClean="0"/>
              <a:t>02/09/2026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6550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BF695629-D1D6-472E-AD8D-B841B09640C4}" type="datetime1">
              <a:rPr lang="en-GB" smtClean="0"/>
              <a:t>02/09/2026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7CCE34D-CFF1-4FFE-815B-D050E7ED2DF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578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3482E-609C-6937-29C9-858EC9081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6AD409-CD48-59E2-CEDC-63C58EC6A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C1A8E8-8B69-4DF2-8DAF-97660562C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A6A28-5E3D-A8F0-AA1D-D8787D9D8C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n-GB" smtClean="0"/>
              <a:t>8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9660C-B4ED-9A41-DD9E-850991E9806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8307B592-45D3-43FD-9CAB-CF71C4EA4E88}" type="datetime1">
              <a:rPr lang="en-GB" smtClean="0"/>
              <a:t>02/09/2026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2350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5CECF-C4EA-40AE-E2A0-6577F69BA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8C3C3-E926-B2BF-C8B6-151D5AEE9B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45F810-B79D-5629-004F-FAE2597D4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E6041-5C86-A5C7-E03D-9069530FBFD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BF695629-D1D6-472E-AD8D-B841B09640C4}" type="datetime1">
              <a:rPr lang="en-GB" smtClean="0"/>
              <a:t>02/09/2026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75C2A0-D0F0-2156-D47E-289004BD5D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7CCE34D-CFF1-4FFE-815B-D050E7ED2DFD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26872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2FE6F-8725-2B86-22B2-F57444239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B051F2-6A42-FE67-6C40-D9019C9AE3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BC068D-ADA9-4FF7-CB38-C6C31E5F6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17B29-5370-FA4F-DC77-FD0DCF42586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BF695629-D1D6-472E-AD8D-B841B09640C4}" type="datetime1">
              <a:rPr lang="en-GB" smtClean="0"/>
              <a:t>02/09/2026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193C74-F2CD-7BC7-0252-FA7BFB0537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7CCE34D-CFF1-4FFE-815B-D050E7ED2DFD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4030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n-GB" smtClean="0"/>
              <a:t>13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66E7A-B1AF-4685-81B6-9A63B08DE42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B9FA1D35-9279-4503-AA65-44459462ED41}" type="datetime1">
              <a:rPr lang="en-GB" smtClean="0"/>
              <a:t>02/09/2026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304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n-GB" smtClean="0"/>
              <a:t>14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D0D2D7-C33C-454C-BB95-A55C1C66958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7C383082-EA5C-4909-9BC1-11E6110F3D9A}" type="datetime1">
              <a:rPr lang="en-GB" smtClean="0"/>
              <a:t>02/09/2026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0892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E68F591-F3C7-4872-BBA0-0693794F4F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99414" y="1051551"/>
            <a:ext cx="3565524" cy="2384898"/>
          </a:xfrm>
        </p:spPr>
        <p:txBody>
          <a:bodyPr rtlCol="0" anchor="b" anchorCtr="0">
            <a:noAutofit/>
          </a:bodyPr>
          <a:lstStyle/>
          <a:p>
            <a:pPr rtl="0"/>
            <a:r>
              <a:rPr lang="en-GB" sz="4800"/>
              <a:t>3DFloat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67766A8-18D5-4391-8DB7-7BFF642763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52360" cy="685800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n-GB"/>
              <a:t>Click icon to add picture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8AD48E-7D67-4BE9-97B6-DB64DE525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999413" y="445272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6FF8E2-165B-49EB-8120-14190F949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915300" y="5534727"/>
            <a:ext cx="667802" cy="631474"/>
            <a:chOff x="10478914" y="1506691"/>
            <a:chExt cx="667802" cy="63147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9B763A7-EE7D-4306-8306-01E8C86E6350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B3A935F-6844-4FCE-B0AE-5492715A58F1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6EB97-6E8A-4B50-8701-7CB158044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3" y="3568700"/>
            <a:ext cx="3565524" cy="1731963"/>
          </a:xfrm>
        </p:spPr>
        <p:txBody>
          <a:bodyPr rtlCol="0">
            <a:noAutofit/>
          </a:bodyPr>
          <a:lstStyle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2000"/>
            </a:lvl3pPr>
            <a:lvl4pPr>
              <a:buNone/>
              <a:defRPr sz="2000"/>
            </a:lvl4pPr>
            <a:lvl5pPr>
              <a:buNone/>
              <a:defRPr sz="2000"/>
            </a:lvl5pPr>
          </a:lstStyle>
          <a:p>
            <a:pPr lvl="0" rt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094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923D16-1EC5-4C17-ABA8-B13A1256B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549275"/>
            <a:ext cx="3565524" cy="1997855"/>
          </a:xfrm>
        </p:spPr>
        <p:txBody>
          <a:bodyPr wrap="square" rtlCol="0" anchor="b" anchorCtr="0">
            <a:noAutofit/>
          </a:bodyPr>
          <a:lstStyle>
            <a:lvl1pPr>
              <a:defRPr/>
            </a:lvl1pPr>
          </a:lstStyle>
          <a:p>
            <a:pPr rtl="0"/>
            <a:r>
              <a:rPr lang="en-GB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294D8B-CF64-4C26-8C78-57A375E7D33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3" y="2677306"/>
            <a:ext cx="3565525" cy="3415519"/>
          </a:xfrm>
        </p:spPr>
        <p:txBody>
          <a:bodyPr rtlCol="0" anchor="t" anchorCtr="0">
            <a:noAutofit/>
          </a:bodyPr>
          <a:lstStyle>
            <a:lvl1pPr>
              <a:buNone/>
              <a:defRPr/>
            </a:lvl1pPr>
          </a:lstStyle>
          <a:p>
            <a:pPr rtl="0">
              <a:lnSpc>
                <a:spcPct val="120000"/>
              </a:lnSpc>
            </a:pPr>
            <a:r>
              <a:rPr lang="en-GB" sz="1600"/>
              <a:t>Click to add text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7BCF456-426F-435B-8DF0-A32A44F5A8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08928" y="1596771"/>
            <a:ext cx="3448558" cy="3448558"/>
          </a:xfrm>
          <a:custGeom>
            <a:avLst/>
            <a:gdLst>
              <a:gd name="connsiteX0" fmla="*/ 1724279 w 3448558"/>
              <a:gd name="connsiteY0" fmla="*/ 0 h 3448558"/>
              <a:gd name="connsiteX1" fmla="*/ 3448558 w 3448558"/>
              <a:gd name="connsiteY1" fmla="*/ 1724279 h 3448558"/>
              <a:gd name="connsiteX2" fmla="*/ 1724279 w 3448558"/>
              <a:gd name="connsiteY2" fmla="*/ 3448558 h 3448558"/>
              <a:gd name="connsiteX3" fmla="*/ 0 w 3448558"/>
              <a:gd name="connsiteY3" fmla="*/ 1724279 h 3448558"/>
              <a:gd name="connsiteX4" fmla="*/ 1724279 w 3448558"/>
              <a:gd name="connsiteY4" fmla="*/ 0 h 3448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8558" h="3448558">
                <a:moveTo>
                  <a:pt x="1724279" y="0"/>
                </a:moveTo>
                <a:cubicBezTo>
                  <a:pt x="2676572" y="0"/>
                  <a:pt x="3448558" y="771986"/>
                  <a:pt x="3448558" y="1724279"/>
                </a:cubicBezTo>
                <a:cubicBezTo>
                  <a:pt x="3448558" y="2676572"/>
                  <a:pt x="2676572" y="3448558"/>
                  <a:pt x="1724279" y="3448558"/>
                </a:cubicBezTo>
                <a:cubicBezTo>
                  <a:pt x="771986" y="3448558"/>
                  <a:pt x="0" y="2676572"/>
                  <a:pt x="0" y="1724279"/>
                </a:cubicBezTo>
                <a:cubicBezTo>
                  <a:pt x="0" y="771986"/>
                  <a:pt x="771986" y="0"/>
                  <a:pt x="1724279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en-GB"/>
              <a:t>Click icon to add picture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4813A609-7079-46D5-9C1D-52004ABDAC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18575" y="596392"/>
            <a:ext cx="2263776" cy="2263776"/>
          </a:xfrm>
          <a:custGeom>
            <a:avLst/>
            <a:gdLst>
              <a:gd name="connsiteX0" fmla="*/ 1131888 w 2263776"/>
              <a:gd name="connsiteY0" fmla="*/ 0 h 2263776"/>
              <a:gd name="connsiteX1" fmla="*/ 2263776 w 2263776"/>
              <a:gd name="connsiteY1" fmla="*/ 1131888 h 2263776"/>
              <a:gd name="connsiteX2" fmla="*/ 1131888 w 2263776"/>
              <a:gd name="connsiteY2" fmla="*/ 2263776 h 2263776"/>
              <a:gd name="connsiteX3" fmla="*/ 0 w 2263776"/>
              <a:gd name="connsiteY3" fmla="*/ 1131888 h 2263776"/>
              <a:gd name="connsiteX4" fmla="*/ 1131888 w 2263776"/>
              <a:gd name="connsiteY4" fmla="*/ 0 h 226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3776" h="2263776">
                <a:moveTo>
                  <a:pt x="1131888" y="0"/>
                </a:moveTo>
                <a:cubicBezTo>
                  <a:pt x="1757012" y="0"/>
                  <a:pt x="2263776" y="506764"/>
                  <a:pt x="2263776" y="1131888"/>
                </a:cubicBezTo>
                <a:cubicBezTo>
                  <a:pt x="2263776" y="1757012"/>
                  <a:pt x="1757012" y="2263776"/>
                  <a:pt x="1131888" y="2263776"/>
                </a:cubicBezTo>
                <a:cubicBezTo>
                  <a:pt x="506764" y="2263776"/>
                  <a:pt x="0" y="1757012"/>
                  <a:pt x="0" y="1131888"/>
                </a:cubicBezTo>
                <a:cubicBezTo>
                  <a:pt x="0" y="506764"/>
                  <a:pt x="506764" y="0"/>
                  <a:pt x="113188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en-GB"/>
              <a:t>Click icon to add picture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14F21DF-D5E0-4C6C-BA2C-D69D65DBB18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91612" y="3324733"/>
            <a:ext cx="2936876" cy="2936876"/>
          </a:xfrm>
          <a:custGeom>
            <a:avLst/>
            <a:gdLst>
              <a:gd name="connsiteX0" fmla="*/ 1468438 w 2936876"/>
              <a:gd name="connsiteY0" fmla="*/ 0 h 2936876"/>
              <a:gd name="connsiteX1" fmla="*/ 2936876 w 2936876"/>
              <a:gd name="connsiteY1" fmla="*/ 1468438 h 2936876"/>
              <a:gd name="connsiteX2" fmla="*/ 1468438 w 2936876"/>
              <a:gd name="connsiteY2" fmla="*/ 2936876 h 2936876"/>
              <a:gd name="connsiteX3" fmla="*/ 0 w 2936876"/>
              <a:gd name="connsiteY3" fmla="*/ 1468438 h 2936876"/>
              <a:gd name="connsiteX4" fmla="*/ 1468438 w 2936876"/>
              <a:gd name="connsiteY4" fmla="*/ 0 h 293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6876" h="2936876">
                <a:moveTo>
                  <a:pt x="1468438" y="0"/>
                </a:moveTo>
                <a:cubicBezTo>
                  <a:pt x="2279434" y="0"/>
                  <a:pt x="2936876" y="657442"/>
                  <a:pt x="2936876" y="1468438"/>
                </a:cubicBezTo>
                <a:cubicBezTo>
                  <a:pt x="2936876" y="2279434"/>
                  <a:pt x="2279434" y="2936876"/>
                  <a:pt x="1468438" y="2936876"/>
                </a:cubicBezTo>
                <a:cubicBezTo>
                  <a:pt x="657442" y="2936876"/>
                  <a:pt x="0" y="2279434"/>
                  <a:pt x="0" y="1468438"/>
                </a:cubicBezTo>
                <a:cubicBezTo>
                  <a:pt x="0" y="657442"/>
                  <a:pt x="657442" y="0"/>
                  <a:pt x="146843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en-GB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n-GB"/>
              <a:t>Tuesday, February 2,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n-GB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n-GB" smtClean="0"/>
              <a:t>‹#›</a:t>
            </a:fld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2FF63B4-C261-4597-9EE0-811D250B9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548755" y="850167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92CF088-7F97-4A11-8A81-0EF641F69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02297" y="5691007"/>
            <a:ext cx="667802" cy="631474"/>
            <a:chOff x="3409557" y="4940429"/>
            <a:chExt cx="667802" cy="63147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65B23B7-CE74-4974-ABD8-BFA31D583416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3537358" y="4940429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F99BB1F-6C9D-4972-9EF4-98ACD7BE71E5}"/>
                </a:ext>
              </a:extLst>
            </p:cNvPr>
            <p:cNvSpPr/>
            <p:nvPr/>
          </p:nvSpPr>
          <p:spPr>
            <a:xfrm rot="13500000">
              <a:off x="3544558" y="4858365"/>
              <a:ext cx="270000" cy="540001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428412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458B3A1-C77D-4AFC-B2C8-79520B53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72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551DA26-B267-4F28-B4D0-65B3EF6E11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n-GB"/>
              <a:t>Click icon to add picture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95544A62-DA23-4840-99DE-09AFC8F4DC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4096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n-GB"/>
              <a:t>Click icon to add picture</a:t>
            </a:r>
          </a:p>
        </p:txBody>
      </p:sp>
      <p:sp>
        <p:nvSpPr>
          <p:cNvPr id="19" name="Picture Placeholder 11">
            <a:extLst>
              <a:ext uri="{FF2B5EF4-FFF2-40B4-BE49-F238E27FC236}">
                <a16:creationId xmlns:a16="http://schemas.microsoft.com/office/drawing/2014/main" id="{0C91AF30-C5BB-4601-BDEB-E60C93A169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83808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n-GB"/>
              <a:t>Click icon to add picture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5B625AA5-EA5B-4115-A461-DA2C7087D83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37904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n-GB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n-GB"/>
              <a:t>Tuesday, February 2,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n-GB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1B1AE41C-3196-4E6F-A3A8-313A92677F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228600" indent="-2286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026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accent5"/>
          </a:solidFill>
        </p:spPr>
        <p:txBody>
          <a:bodyPr rtlCol="0"/>
          <a:lstStyle/>
          <a:p>
            <a:pPr rtl="0"/>
            <a:r>
              <a:rPr lang="en-GB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GB"/>
              <a:t>Tuesday, February 2,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BA1B0FB-D917-4C8C-928F-313BD683BF39}" type="slidenum">
              <a:rPr lang="en-GB" smtClean="0"/>
              <a:t>‹#›</a:t>
            </a:fld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517979-166D-4AAA-ABBC-0C3E5C2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111559-B769-4E2A-A891-97B3C4AA6BAC}"/>
              </a:ext>
            </a:extLst>
          </p:cNvPr>
          <p:cNvSpPr/>
          <p:nvPr userDrawn="1"/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 anchor="b" anchorCtr="0">
            <a:noAutofit/>
          </a:bodyPr>
          <a:lstStyle>
            <a:lvl1pPr>
              <a:defRPr sz="6400"/>
            </a:lvl1pPr>
          </a:lstStyle>
          <a:p>
            <a:pPr rtl="0"/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16724"/>
            <a:ext cx="5437187" cy="2265216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</a:lstStyle>
          <a:p>
            <a:pPr rtl="0"/>
            <a:r>
              <a:rPr lang="en-GB">
                <a:solidFill>
                  <a:schemeClr val="tx1">
                    <a:alpha val="60000"/>
                  </a:schemeClr>
                </a:solidFill>
              </a:rPr>
              <a:t>Click to edit Master subtitle style</a:t>
            </a:r>
            <a:endParaRPr lang="en-GB" dirty="0">
              <a:solidFill>
                <a:schemeClr val="tx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429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rtlCol="0"/>
          <a:lstStyle/>
          <a:p>
            <a:pPr rtl="0"/>
            <a:r>
              <a:rPr lang="en-GB"/>
              <a:t>Click icon to add picture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57281"/>
            <a:ext cx="6640285" cy="3300719"/>
          </a:xfrm>
          <a:gradFill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60000"/>
                </a:schemeClr>
              </a:gs>
            </a:gsLst>
            <a:lin ang="10800000" scaled="1"/>
          </a:gradFill>
        </p:spPr>
        <p:txBody>
          <a:bodyPr rtlCol="0">
            <a:noAutofit/>
          </a:bodyPr>
          <a:lstStyle>
            <a:lvl1pPr marL="548640" indent="0">
              <a:lnSpc>
                <a:spcPct val="200000"/>
              </a:lnSpc>
              <a:buNone/>
              <a:defRPr/>
            </a:lvl1pPr>
          </a:lstStyle>
          <a:p>
            <a:pPr rtl="0"/>
            <a:r>
              <a:rPr lang="en-GB">
                <a:solidFill>
                  <a:schemeClr val="tx1">
                    <a:alpha val="60000"/>
                  </a:schemeClr>
                </a:solidFill>
              </a:rPr>
              <a:t>Click to edit Master subtitle style</a:t>
            </a:r>
            <a:endParaRPr lang="en-GB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640285" cy="3535509"/>
          </a:xfrm>
          <a:gradFill flip="none" rotWithShape="1"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70000"/>
                </a:schemeClr>
              </a:gs>
            </a:gsLst>
            <a:lin ang="10800000" scaled="1"/>
            <a:tileRect/>
          </a:gradFill>
        </p:spPr>
        <p:txBody>
          <a:bodyPr rtlCol="0" anchor="b" anchorCtr="0">
            <a:noAutofit/>
          </a:bodyPr>
          <a:lstStyle>
            <a:lvl1pPr marL="548640">
              <a:spcAft>
                <a:spcPts val="1200"/>
              </a:spcAft>
              <a:defRPr sz="6400"/>
            </a:lvl1pPr>
          </a:lstStyle>
          <a:p>
            <a:pPr rtl="0"/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9304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Chart Table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n-GB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GB" dirty="0"/>
            </a:lvl1pPr>
          </a:lstStyle>
          <a:p>
            <a:pPr lvl="0" rtl="0">
              <a:lnSpc>
                <a:spcPct val="100000"/>
              </a:lnSpc>
            </a:pPr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 rtlCol="0">
            <a:noAutofit/>
          </a:bodyPr>
          <a:lstStyle/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n-GB"/>
              <a:t>Tuesday, February 2,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n-GB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062BF5C-3876-4161-B4FF-14CA94D3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6160" cy="3384550"/>
          </a:xfrm>
        </p:spPr>
        <p:txBody>
          <a:bodyPr wrap="square" rtlCol="0" anchor="b" anchorCtr="0">
            <a:noAutofit/>
          </a:bodyPr>
          <a:lstStyle>
            <a:lvl1pPr>
              <a:defRPr sz="4000"/>
            </a:lvl1pPr>
          </a:lstStyle>
          <a:p>
            <a:pPr rtl="0"/>
            <a:r>
              <a:rPr lang="en-GB"/>
              <a:t>Click to edit Master title style</a:t>
            </a:r>
            <a:endParaRPr lang="en-GB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17C5C60-EC4D-410B-9997-0B7328960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0573155C-3428-4F4F-AE66-A519D777EAAE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853496C-159E-4D47-94B5-0835FB6511B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93E330-715B-44E8-84D9-CE166D428D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80A2FA6F-99B7-4984-A80C-570644889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39C8C03-81B3-4DE8-B96A-78258E4467C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0863" y="4097338"/>
            <a:ext cx="3565524" cy="2351087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1FBB56D-C8B1-4ED9-A5DB-72BA636DAD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35809" y="65663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en-GB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n-GB"/>
              <a:t>Tuesday, February 2,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n-GB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087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38C6F9E-A74F-4F54-9409-B6B93DF8C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F0F71C5-78A4-4793-9BD4-3DF0EE3E3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288775" y="7626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/>
          </a:p>
        </p:txBody>
      </p:sp>
      <p:sp>
        <p:nvSpPr>
          <p:cNvPr id="40" name="Title 5">
            <a:extLst>
              <a:ext uri="{FF2B5EF4-FFF2-40B4-BE49-F238E27FC236}">
                <a16:creationId xmlns:a16="http://schemas.microsoft.com/office/drawing/2014/main" id="{36F60F77-4CC9-4F86-B70A-85012C6588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548640"/>
            <a:ext cx="8281987" cy="1253041"/>
          </a:xfrm>
        </p:spPr>
        <p:txBody>
          <a:bodyPr rtlCol="0">
            <a:noAutofit/>
          </a:bodyPr>
          <a:lstStyle/>
          <a:p>
            <a:pPr rtl="0"/>
            <a:r>
              <a:rPr lang="en-GB"/>
              <a:t>Team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6093F87-C1F6-4FAB-B891-6F7D7FC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800565" y="4518946"/>
            <a:ext cx="1980001" cy="1363916"/>
            <a:chOff x="4879602" y="3781429"/>
            <a:chExt cx="1980001" cy="1363916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1A4FD5C-1E5B-46D1-BA9D-99928D19AF04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7DF0ED5-A971-408F-A055-C7E5D7A623C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A81F353-4C5B-4A37-9846-2C1E2D0FC25F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2B74EA3-11CE-4D3F-99AD-162563447653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/>
            </a:p>
          </p:txBody>
        </p:sp>
      </p:grpSp>
      <p:sp>
        <p:nvSpPr>
          <p:cNvPr id="56" name="Picture Placeholder 55">
            <a:extLst>
              <a:ext uri="{FF2B5EF4-FFF2-40B4-BE49-F238E27FC236}">
                <a16:creationId xmlns:a16="http://schemas.microsoft.com/office/drawing/2014/main" id="{8F41896B-6DDA-4F82-9F74-3EBF93A3CD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8992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n-GB"/>
              <a:t>Click icon to add picture</a:t>
            </a:r>
          </a:p>
        </p:txBody>
      </p:sp>
      <p:sp>
        <p:nvSpPr>
          <p:cNvPr id="57" name="Picture Placeholder 55">
            <a:extLst>
              <a:ext uri="{FF2B5EF4-FFF2-40B4-BE49-F238E27FC236}">
                <a16:creationId xmlns:a16="http://schemas.microsoft.com/office/drawing/2014/main" id="{EF85499B-C29A-4C8B-922C-7CE4771E35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38384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n-GB"/>
              <a:t>Click icon to add picture</a:t>
            </a:r>
          </a:p>
        </p:txBody>
      </p:sp>
      <p:sp>
        <p:nvSpPr>
          <p:cNvPr id="58" name="Picture Placeholder 55">
            <a:extLst>
              <a:ext uri="{FF2B5EF4-FFF2-40B4-BE49-F238E27FC236}">
                <a16:creationId xmlns:a16="http://schemas.microsoft.com/office/drawing/2014/main" id="{F82A1DB8-0AE7-4E17-B07B-FCF45B85EE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61976" y="1993392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59" name="Picture Placeholder 55">
            <a:extLst>
              <a:ext uri="{FF2B5EF4-FFF2-40B4-BE49-F238E27FC236}">
                <a16:creationId xmlns:a16="http://schemas.microsoft.com/office/drawing/2014/main" id="{A83EEB6C-83B7-471D-B5A4-4071534048D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85568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n-GB"/>
              <a:t>Click icon to add picture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17A96A8C-F792-485A-9BB9-4DEDCA0CE6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9500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en-GB"/>
              <a:t>Name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6C65AE07-519E-4E3B-8521-621C834391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8733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en-GB"/>
              <a:t>Title</a:t>
            </a:r>
          </a:p>
        </p:txBody>
      </p:sp>
      <p:sp>
        <p:nvSpPr>
          <p:cNvPr id="65" name="Text Placeholder 62">
            <a:extLst>
              <a:ext uri="{FF2B5EF4-FFF2-40B4-BE49-F238E27FC236}">
                <a16:creationId xmlns:a16="http://schemas.microsoft.com/office/drawing/2014/main" id="{FB878318-C287-428B-8105-429BC4B03F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39151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en-GB"/>
              <a:t>Name</a:t>
            </a:r>
          </a:p>
        </p:txBody>
      </p:sp>
      <p:sp>
        <p:nvSpPr>
          <p:cNvPr id="64" name="Text Placeholder 60">
            <a:extLst>
              <a:ext uri="{FF2B5EF4-FFF2-40B4-BE49-F238E27FC236}">
                <a16:creationId xmlns:a16="http://schemas.microsoft.com/office/drawing/2014/main" id="{1465E516-2CEF-4F9E-9375-7D41DCFCBB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38384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en-GB"/>
              <a:t>Title</a:t>
            </a:r>
          </a:p>
        </p:txBody>
      </p:sp>
      <p:sp>
        <p:nvSpPr>
          <p:cNvPr id="67" name="Text Placeholder 62">
            <a:extLst>
              <a:ext uri="{FF2B5EF4-FFF2-40B4-BE49-F238E27FC236}">
                <a16:creationId xmlns:a16="http://schemas.microsoft.com/office/drawing/2014/main" id="{FE012CE3-36AA-4016-A88E-27BCFFEFD6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62743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en-GB"/>
              <a:t>Name</a:t>
            </a:r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8D5671AF-0137-4226-8A84-2784817E51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61976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en-GB"/>
              <a:t>Title</a:t>
            </a:r>
          </a:p>
        </p:txBody>
      </p:sp>
      <p:sp>
        <p:nvSpPr>
          <p:cNvPr id="69" name="Text Placeholder 62">
            <a:extLst>
              <a:ext uri="{FF2B5EF4-FFF2-40B4-BE49-F238E27FC236}">
                <a16:creationId xmlns:a16="http://schemas.microsoft.com/office/drawing/2014/main" id="{DA1587F0-23BF-4FB8-B06C-2B0AA928E9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3112" y="3787288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en-GB"/>
              <a:t>Name</a:t>
            </a:r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565C0B22-B5E7-44BB-A17C-7FB5BB5D82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32345" y="4238812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en-GB"/>
              <a:t>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n-GB"/>
              <a:t>Tuesday, February 2, 20XX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n-GB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577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Content 2 column (comparison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GB" sz="4800" dirty="0"/>
            </a:lvl1pPr>
          </a:lstStyle>
          <a:p>
            <a:pPr lvl="0" rtl="0">
              <a:lnSpc>
                <a:spcPct val="100000"/>
              </a:lnSpc>
            </a:pPr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5437186" cy="535354"/>
          </a:xfrm>
        </p:spPr>
        <p:txBody>
          <a:bodyPr rtlCol="0" anchor="b">
            <a:no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427370"/>
            <a:ext cx="5429114" cy="3515555"/>
          </a:xfrm>
        </p:spPr>
        <p:txBody>
          <a:bodyPr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731375"/>
            <a:ext cx="5436392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n-GB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427370"/>
            <a:ext cx="5436391" cy="3515555"/>
          </a:xfrm>
        </p:spPr>
        <p:txBody>
          <a:bodyPr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n-GB"/>
              <a:t>Tuesday, February 2, 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n-GB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039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7931" y="5260967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n-GB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10834944" y="17126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10849344" y="51834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BCCE83C-72C8-4181-8D03-7CFB23A6F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GB" sz="4800" dirty="0"/>
            </a:lvl1pPr>
          </a:lstStyle>
          <a:p>
            <a:pPr lvl="0" rtl="0">
              <a:lnSpc>
                <a:spcPct val="100000"/>
              </a:lnSpc>
            </a:pPr>
            <a:r>
              <a:rPr lang="en-GB"/>
              <a:t>Click to edit Master title style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6FCDFCC-38D1-43A4-918F-491DBA6B2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3563936" cy="535354"/>
          </a:xfrm>
        </p:spPr>
        <p:txBody>
          <a:bodyPr rtlCol="0" anchor="b">
            <a:noAutofit/>
          </a:bodyPr>
          <a:lstStyle>
            <a:lvl1pPr marL="0" indent="0">
              <a:buNone/>
              <a:defRPr sz="20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8A9CB740-8581-4D62-8481-7ECBBEDA7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76" y="2432304"/>
            <a:ext cx="3563936" cy="3515555"/>
          </a:xfrm>
        </p:spPr>
        <p:txBody>
          <a:bodyPr rtlCol="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B16E493-D962-46EC-BBB8-D7E68A6404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1573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n-GB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en-GB"/>
              <a:t>Click to edit Master text styles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88CC7C67-1BA6-42A6-B9D3-8EDF70A3DB3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1573" y="2427370"/>
            <a:ext cx="3508755" cy="3515555"/>
          </a:xfrm>
        </p:spPr>
        <p:txBody>
          <a:bodyPr rtlCol="0"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17092A6-D0E6-4EF2-B3B8-AE35438D4D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139659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n-GB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en-GB"/>
              <a:t>Click to EDIT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4534254A-2561-400F-87CB-18A8D3538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39659" y="2427370"/>
            <a:ext cx="3508755" cy="3515555"/>
          </a:xfrm>
        </p:spPr>
        <p:txBody>
          <a:bodyPr rtlCol="0"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n-GB"/>
              <a:t>Tuesday, February 2, 20XX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n-GB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2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949202B-67AE-417A-A336-DF5257FF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85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r>
              <a:rPr lang="en-GB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786D546-2834-435F-950F-DCEFE654B3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n-GB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D763BD-EAC5-4DB8-81AF-9743BB6A957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0" indent="0">
              <a:buNone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n-GB"/>
              <a:t>Tuesday, February 2,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n-GB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n-GB" smtClean="0"/>
              <a:t>‹#›</a:t>
            </a:fld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6AF837-10C6-44A5-B8D6-960A57487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5477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97246E34-E6EE-4BF3-A0D3-A20868B5A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 anchor="b" anchorCtr="0">
            <a:noAutofit/>
          </a:bodyPr>
          <a:lstStyle/>
          <a:p>
            <a:pPr rtl="0"/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45BE5FFB-47D1-4474-B6CA-C3C936DF2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</a:lstStyle>
          <a:p>
            <a:pPr rtl="0"/>
            <a:r>
              <a:rPr lang="en-GB">
                <a:solidFill>
                  <a:schemeClr val="tx1">
                    <a:alpha val="60000"/>
                  </a:schemeClr>
                </a:solidFill>
              </a:rPr>
              <a:t>Click to edit Master subtitle style</a:t>
            </a:r>
            <a:endParaRPr lang="en-GB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008D9209-1A62-4AC3-BF92-94348A9BC0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56248" y="548640"/>
            <a:ext cx="5084064" cy="288036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FADBFB6B-1787-4549-91B6-D748C66B13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56248" y="3429000"/>
            <a:ext cx="5084064" cy="288036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n-GB"/>
              <a:t>Click icon to add picture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6966E3E-9B30-4375-AC9A-23256CC87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61347" y="125399"/>
            <a:ext cx="1404698" cy="1155641"/>
            <a:chOff x="11161347" y="125399"/>
            <a:chExt cx="1404698" cy="1155641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EBBC5A2-A37E-47DF-9230-9A75067F188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161347" y="125399"/>
              <a:ext cx="1341675" cy="926985"/>
            </a:xfrm>
            <a:custGeom>
              <a:avLst/>
              <a:gdLst>
                <a:gd name="connsiteX0" fmla="*/ 1049126 w 1341675"/>
                <a:gd name="connsiteY0" fmla="*/ 8962 h 926985"/>
                <a:gd name="connsiteX1" fmla="*/ 1341675 w 1341675"/>
                <a:gd name="connsiteY1" fmla="*/ 301511 h 926985"/>
                <a:gd name="connsiteX2" fmla="*/ 1130649 w 1341675"/>
                <a:gd name="connsiteY2" fmla="*/ 512537 h 926985"/>
                <a:gd name="connsiteX3" fmla="*/ 1107397 w 1341675"/>
                <a:gd name="connsiteY3" fmla="*/ 499917 h 926985"/>
                <a:gd name="connsiteX4" fmla="*/ 926985 w 1341675"/>
                <a:gd name="connsiteY4" fmla="*/ 463493 h 926985"/>
                <a:gd name="connsiteX5" fmla="*/ 463493 w 1341675"/>
                <a:gd name="connsiteY5" fmla="*/ 926985 h 926985"/>
                <a:gd name="connsiteX6" fmla="*/ 0 w 1341675"/>
                <a:gd name="connsiteY6" fmla="*/ 926985 h 926985"/>
                <a:gd name="connsiteX7" fmla="*/ 926985 w 1341675"/>
                <a:gd name="connsiteY7" fmla="*/ 0 h 926985"/>
                <a:gd name="connsiteX8" fmla="*/ 1021763 w 1341675"/>
                <a:gd name="connsiteY8" fmla="*/ 4786 h 92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1675" h="926985">
                  <a:moveTo>
                    <a:pt x="1049126" y="8962"/>
                  </a:moveTo>
                  <a:lnTo>
                    <a:pt x="1341675" y="301511"/>
                  </a:lnTo>
                  <a:lnTo>
                    <a:pt x="1130649" y="512537"/>
                  </a:lnTo>
                  <a:lnTo>
                    <a:pt x="1107397" y="499917"/>
                  </a:lnTo>
                  <a:cubicBezTo>
                    <a:pt x="1051945" y="476462"/>
                    <a:pt x="990979" y="463493"/>
                    <a:pt x="926985" y="463493"/>
                  </a:cubicBezTo>
                  <a:cubicBezTo>
                    <a:pt x="671005" y="463493"/>
                    <a:pt x="463493" y="671005"/>
                    <a:pt x="463493" y="926985"/>
                  </a:cubicBezTo>
                  <a:lnTo>
                    <a:pt x="0" y="926985"/>
                  </a:lnTo>
                  <a:cubicBezTo>
                    <a:pt x="0" y="415026"/>
                    <a:pt x="415025" y="0"/>
                    <a:pt x="926985" y="0"/>
                  </a:cubicBezTo>
                  <a:cubicBezTo>
                    <a:pt x="958982" y="0"/>
                    <a:pt x="990601" y="1621"/>
                    <a:pt x="1021763" y="478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54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1781B9A-C230-4FFC-90A8-E0571B1DEDA7}"/>
                </a:ext>
              </a:extLst>
            </p:cNvPr>
            <p:cNvSpPr/>
            <p:nvPr/>
          </p:nvSpPr>
          <p:spPr>
            <a:xfrm rot="2700000">
              <a:off x="11798454" y="994196"/>
              <a:ext cx="107098" cy="4665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254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295925C-3570-40F1-B3CE-07D947ED464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228590" y="129580"/>
              <a:ext cx="1337455" cy="1042921"/>
            </a:xfrm>
            <a:custGeom>
              <a:avLst/>
              <a:gdLst>
                <a:gd name="connsiteX0" fmla="*/ 1084058 w 1337455"/>
                <a:gd name="connsiteY0" fmla="*/ 16081 h 1042921"/>
                <a:gd name="connsiteX1" fmla="*/ 1337455 w 1337455"/>
                <a:gd name="connsiteY1" fmla="*/ 269477 h 1042921"/>
                <a:gd name="connsiteX2" fmla="*/ 1060775 w 1337455"/>
                <a:gd name="connsiteY2" fmla="*/ 546158 h 1042921"/>
                <a:gd name="connsiteX3" fmla="*/ 1020394 w 1337455"/>
                <a:gd name="connsiteY3" fmla="*/ 532055 h 1042921"/>
                <a:gd name="connsiteX4" fmla="*/ 926985 w 1337455"/>
                <a:gd name="connsiteY4" fmla="*/ 521461 h 1042921"/>
                <a:gd name="connsiteX5" fmla="*/ 463492 w 1337455"/>
                <a:gd name="connsiteY5" fmla="*/ 1042921 h 1042921"/>
                <a:gd name="connsiteX6" fmla="*/ 0 w 1337455"/>
                <a:gd name="connsiteY6" fmla="*/ 1042921 h 1042921"/>
                <a:gd name="connsiteX7" fmla="*/ 926984 w 1337455"/>
                <a:gd name="connsiteY7" fmla="*/ 0 h 1042921"/>
                <a:gd name="connsiteX8" fmla="*/ 1021763 w 1337455"/>
                <a:gd name="connsiteY8" fmla="*/ 5384 h 104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7455" h="1042921">
                  <a:moveTo>
                    <a:pt x="1084058" y="16081"/>
                  </a:moveTo>
                  <a:lnTo>
                    <a:pt x="1337455" y="269477"/>
                  </a:lnTo>
                  <a:lnTo>
                    <a:pt x="1060775" y="546158"/>
                  </a:lnTo>
                  <a:lnTo>
                    <a:pt x="1020394" y="532055"/>
                  </a:lnTo>
                  <a:cubicBezTo>
                    <a:pt x="990222" y="525109"/>
                    <a:pt x="958982" y="521461"/>
                    <a:pt x="926985" y="521461"/>
                  </a:cubicBezTo>
                  <a:cubicBezTo>
                    <a:pt x="671005" y="521461"/>
                    <a:pt x="463493" y="754927"/>
                    <a:pt x="463492" y="1042921"/>
                  </a:cubicBezTo>
                  <a:lnTo>
                    <a:pt x="0" y="1042921"/>
                  </a:lnTo>
                  <a:cubicBezTo>
                    <a:pt x="0" y="466932"/>
                    <a:pt x="415025" y="0"/>
                    <a:pt x="926984" y="0"/>
                  </a:cubicBezTo>
                  <a:cubicBezTo>
                    <a:pt x="958982" y="0"/>
                    <a:pt x="990600" y="1824"/>
                    <a:pt x="1021763" y="5384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94664AE-6DC5-428F-9AC4-5A8F6757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288F304-7DF7-42FB-BD6F-D575128A1DDE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04835D9-7DE9-4DDD-A6C2-1C526822700A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n-GB"/>
              <a:t>Tuesday, February 2,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n-GB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3C43C1C-00B3-40E0-B073-B8C56206D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319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pPr rtl="0"/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n-GB"/>
              <a:t>Tuesday, February 2, 20XX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n-GB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n-GB" smtClean="0"/>
              <a:t>‹#›</a:t>
            </a:fld>
            <a:endParaRPr lang="en-GB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n-GB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pPr rtl="0"/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Autofit/>
          </a:bodyPr>
          <a:lstStyle/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 rtlCol="0">
            <a:noAutofit/>
          </a:bodyPr>
          <a:lstStyle/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n-GB"/>
              <a:t>Tuesday, February 2,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n-GB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n-GB"/>
              <a:t>Tuesday, February 2,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n-GB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rtlCol="0" anchor="t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pPr rtl="0"/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 rtlCol="0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n-GB"/>
              <a:t>Tuesday, February 2,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n-GB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356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 rtl="0">
              <a:lnSpc>
                <a:spcPct val="100000"/>
              </a:lnSpc>
            </a:pPr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r>
              <a:rPr lang="en-GB"/>
              <a:t>Tuesday, February 2, 20XX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r>
              <a:rPr lang="en-GB"/>
              <a:t>Sample Footer Text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33" r:id="rId3"/>
    <p:sldLayoutId id="2147483687" r:id="rId4"/>
    <p:sldLayoutId id="2147483734" r:id="rId5"/>
    <p:sldLayoutId id="2147483686" r:id="rId6"/>
    <p:sldLayoutId id="2147483696" r:id="rId7"/>
    <p:sldLayoutId id="2147483707" r:id="rId8"/>
    <p:sldLayoutId id="2147483689" r:id="rId9"/>
    <p:sldLayoutId id="2147483697" r:id="rId10"/>
    <p:sldLayoutId id="2147483731" r:id="rId11"/>
    <p:sldLayoutId id="2147483693" r:id="rId12"/>
    <p:sldLayoutId id="2147483685" r:id="rId13"/>
    <p:sldLayoutId id="2147483688" r:id="rId14"/>
    <p:sldLayoutId id="2147483691" r:id="rId15"/>
    <p:sldLayoutId id="2147483692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E938C-9D94-4B05-979A-D39FFC45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99413" y="1714742"/>
            <a:ext cx="3565524" cy="2384898"/>
          </a:xfrm>
        </p:spPr>
        <p:txBody>
          <a:bodyPr rtlCol="0" anchor="b" anchorCtr="0">
            <a:normAutofit fontScale="90000"/>
          </a:bodyPr>
          <a:lstStyle/>
          <a:p>
            <a:pPr rtl="0"/>
            <a:r>
              <a:rPr lang="en-GB" dirty="0"/>
              <a:t>Complex Systems: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Testing – Robustness &amp; Antifragility </a:t>
            </a:r>
          </a:p>
        </p:txBody>
      </p:sp>
      <p:pic>
        <p:nvPicPr>
          <p:cNvPr id="14" name="Picture Placeholder 13" descr="Data Points Digital background">
            <a:extLst>
              <a:ext uri="{FF2B5EF4-FFF2-40B4-BE49-F238E27FC236}">
                <a16:creationId xmlns:a16="http://schemas.microsoft.com/office/drawing/2014/main" id="{9A8AD548-922D-4E1D-B19C-5F6E808B816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452360" cy="6858000"/>
          </a:xfr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9A11267-FC52-4990-8D98-010AFABA55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91407" y="6115399"/>
            <a:ext cx="3565524" cy="1731963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Miles Waite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6F2F714-A4DE-5F36-76FA-6699BB58EDC4}"/>
              </a:ext>
            </a:extLst>
          </p:cNvPr>
          <p:cNvSpPr txBox="1">
            <a:spLocks/>
          </p:cNvSpPr>
          <p:nvPr/>
        </p:nvSpPr>
        <p:spPr>
          <a:xfrm>
            <a:off x="7890685" y="3429000"/>
            <a:ext cx="3565524" cy="238489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900" i="1" dirty="0"/>
              <a:t>A rules engine is robust: it survives the expected. A self-learning system is antifragile: it gets stronger from every correction, every vendor change, every policy shift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52814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6426E-F6F6-4A7C-9181-8C3090996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1997855"/>
          </a:xfrm>
        </p:spPr>
        <p:txBody>
          <a:bodyPr rtlCol="0"/>
          <a:lstStyle/>
          <a:p>
            <a:pPr rtl="0"/>
            <a:r>
              <a:rPr lang="en-GB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60D6F-4D0F-4D33-B2A7-159C8583F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677306"/>
            <a:ext cx="3565525" cy="3415519"/>
          </a:xfrm>
        </p:spPr>
        <p:txBody>
          <a:bodyPr rtlCol="0"/>
          <a:lstStyle/>
          <a:p>
            <a:pPr rtl="0"/>
            <a:r>
              <a:rPr lang="en-GB" dirty="0"/>
              <a:t>Requirements Gathering</a:t>
            </a:r>
          </a:p>
          <a:p>
            <a:pPr rtl="0"/>
            <a:r>
              <a:rPr lang="en-GB" dirty="0"/>
              <a:t>Robustness</a:t>
            </a:r>
          </a:p>
          <a:p>
            <a:pPr rtl="0"/>
            <a:r>
              <a:rPr lang="en-GB" dirty="0"/>
              <a:t>Antifragile</a:t>
            </a:r>
          </a:p>
          <a:p>
            <a:pPr rtl="0"/>
            <a:r>
              <a:rPr lang="en-GB" dirty="0"/>
              <a:t>Testing Complex Systems</a:t>
            </a:r>
          </a:p>
          <a:p>
            <a:pPr rtl="0"/>
            <a:r>
              <a:rPr lang="en-GB" dirty="0"/>
              <a:t>1.168 – Black Swan Protection</a:t>
            </a:r>
          </a:p>
          <a:p>
            <a:pPr rtl="0"/>
            <a:endParaRPr lang="en-GB" dirty="0"/>
          </a:p>
        </p:txBody>
      </p:sp>
      <p:pic>
        <p:nvPicPr>
          <p:cNvPr id="8" name="Picture Placeholder 7" descr="Digital Data">
            <a:extLst>
              <a:ext uri="{FF2B5EF4-FFF2-40B4-BE49-F238E27FC236}">
                <a16:creationId xmlns:a16="http://schemas.microsoft.com/office/drawing/2014/main" id="{06D2324F-3B7B-45EF-9584-C8EADD2C8C0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08928" y="1596771"/>
            <a:ext cx="3448558" cy="3448558"/>
          </a:xfrm>
        </p:spPr>
      </p:pic>
      <p:pic>
        <p:nvPicPr>
          <p:cNvPr id="10" name="Picture Placeholder 9" descr="Data Points ">
            <a:extLst>
              <a:ext uri="{FF2B5EF4-FFF2-40B4-BE49-F238E27FC236}">
                <a16:creationId xmlns:a16="http://schemas.microsoft.com/office/drawing/2014/main" id="{71F862F9-0E8A-4DB9-8083-1C3AA6E5D7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18575" y="596392"/>
            <a:ext cx="2263776" cy="2263776"/>
          </a:xfrm>
        </p:spPr>
      </p:pic>
      <p:pic>
        <p:nvPicPr>
          <p:cNvPr id="12" name="Picture Placeholder 11" descr="Data Background">
            <a:extLst>
              <a:ext uri="{FF2B5EF4-FFF2-40B4-BE49-F238E27FC236}">
                <a16:creationId xmlns:a16="http://schemas.microsoft.com/office/drawing/2014/main" id="{A63F39B9-0715-40B5-8ECB-9B983F99C69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91612" y="3324733"/>
            <a:ext cx="2936876" cy="2936876"/>
          </a:xfr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199C97-F175-437D-8311-DB662925C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93D5D58-07B9-B7FF-1F33-CA81267B2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en-GB" dirty="0"/>
              <a:t>Testing – Robustness &amp; Antifragility </a:t>
            </a:r>
          </a:p>
        </p:txBody>
      </p:sp>
      <p:sp>
        <p:nvSpPr>
          <p:cNvPr id="5" name="Date Placeholder 18">
            <a:extLst>
              <a:ext uri="{FF2B5EF4-FFF2-40B4-BE49-F238E27FC236}">
                <a16:creationId xmlns:a16="http://schemas.microsoft.com/office/drawing/2014/main" id="{A068F9B2-F4CF-E890-A9A1-C054E87105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 wrap="square" rtlCol="0"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 dirty="0"/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313234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3418ADF-358F-4647-A511-FCFFEDA83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7200"/>
            <a:ext cx="4500562" cy="1562959"/>
          </a:xfrm>
        </p:spPr>
        <p:txBody>
          <a:bodyPr rtlCol="0"/>
          <a:lstStyle/>
          <a:p>
            <a:pPr rtl="0"/>
            <a:r>
              <a:rPr lang="en-GB" dirty="0"/>
              <a:t>Introduction</a:t>
            </a:r>
          </a:p>
        </p:txBody>
      </p:sp>
      <p:pic>
        <p:nvPicPr>
          <p:cNvPr id="18" name="Picture Placeholder 17" descr="A group of people sitting at a table">
            <a:extLst>
              <a:ext uri="{FF2B5EF4-FFF2-40B4-BE49-F238E27FC236}">
                <a16:creationId xmlns:a16="http://schemas.microsoft.com/office/drawing/2014/main" id="{E2536017-F539-430C-A901-70AB81CA612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/>
        </p:blipFill>
        <p:spPr>
          <a:xfrm>
            <a:off x="0" y="0"/>
            <a:ext cx="3054096" cy="3776472"/>
          </a:xfrm>
        </p:spPr>
      </p:pic>
      <p:pic>
        <p:nvPicPr>
          <p:cNvPr id="20" name="Picture Placeholder 19" descr="Data Points Digital background">
            <a:extLst>
              <a:ext uri="{FF2B5EF4-FFF2-40B4-BE49-F238E27FC236}">
                <a16:creationId xmlns:a16="http://schemas.microsoft.com/office/drawing/2014/main" id="{528A7D8D-1AB5-46C4-93FA-D92C2FD5169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/>
        </p:blipFill>
        <p:spPr>
          <a:xfrm>
            <a:off x="3054096" y="0"/>
            <a:ext cx="3054096" cy="3776472"/>
          </a:xfrm>
        </p:spPr>
      </p:pic>
      <p:pic>
        <p:nvPicPr>
          <p:cNvPr id="25" name="Picture Placeholder 24" descr="Digital Graph Screen">
            <a:extLst>
              <a:ext uri="{FF2B5EF4-FFF2-40B4-BE49-F238E27FC236}">
                <a16:creationId xmlns:a16="http://schemas.microsoft.com/office/drawing/2014/main" id="{B7353C46-ACC1-4078-85C2-26B57B0E58B7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/>
        </p:blipFill>
        <p:spPr>
          <a:xfrm>
            <a:off x="9137904" y="0"/>
            <a:ext cx="3054096" cy="3776472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3302E-502D-4151-81C9-5FD6AF959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en-GB" dirty="0"/>
              <a:t>Testing – Robustness &amp; Antifragility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en-GB" smtClean="0"/>
              <a:pPr rtl="0"/>
              <a:t>3</a:t>
            </a:fld>
            <a:endParaRPr lang="en-GB"/>
          </a:p>
        </p:txBody>
      </p:sp>
      <p:pic>
        <p:nvPicPr>
          <p:cNvPr id="23" name="Picture Placeholder 22" descr="A person drawing on a white board">
            <a:extLst>
              <a:ext uri="{FF2B5EF4-FFF2-40B4-BE49-F238E27FC236}">
                <a16:creationId xmlns:a16="http://schemas.microsoft.com/office/drawing/2014/main" id="{2B3C4F95-A0FA-45D9-BF43-1C398F65B89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/>
        </p:blipFill>
        <p:spPr>
          <a:xfrm>
            <a:off x="6083808" y="0"/>
            <a:ext cx="3054096" cy="3776472"/>
          </a:xfr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5127060-CDBF-435F-9009-A5451CCE305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563" y="4508500"/>
            <a:ext cx="6221412" cy="1563688"/>
          </a:xfrm>
          <a:noFill/>
        </p:spPr>
        <p:txBody>
          <a:bodyPr rtlCol="0">
            <a:normAutofit fontScale="77500" lnSpcReduction="20000"/>
          </a:bodyPr>
          <a:lstStyle/>
          <a:p>
            <a:r>
              <a:rPr lang="en-US" dirty="0"/>
              <a:t>Software doesn’t fail because of bugs; it fails because of the unexpected. By capturing precise requirements (“As a User, I want… So that…”), rigorously testing complex systems, and designing for robustness and antifragility,  an </a:t>
            </a:r>
            <a:r>
              <a:rPr lang="en-US" dirty="0" err="1"/>
              <a:t>organisation</a:t>
            </a:r>
            <a:r>
              <a:rPr lang="en-US" dirty="0"/>
              <a:t> can not only survive uncertainty but thrive in it.  This approach positions us to lead the market in defending against rare, high-impact Black Swan events in daily software use</a:t>
            </a:r>
            <a:endParaRPr lang="en-GB" dirty="0"/>
          </a:p>
        </p:txBody>
      </p:sp>
      <p:sp>
        <p:nvSpPr>
          <p:cNvPr id="2" name="Date Placeholder 18">
            <a:extLst>
              <a:ext uri="{FF2B5EF4-FFF2-40B4-BE49-F238E27FC236}">
                <a16:creationId xmlns:a16="http://schemas.microsoft.com/office/drawing/2014/main" id="{A64A669B-748B-A63A-930E-D051E09B9C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 wrap="square" rtlCol="0"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 dirty="0"/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158886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/>
            </a:p>
          </p:txBody>
        </p:sp>
      </p:grp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pic>
        <p:nvPicPr>
          <p:cNvPr id="8" name="Picture Placeholder 7" descr="Data Points Digital background">
            <a:extLst>
              <a:ext uri="{FF2B5EF4-FFF2-40B4-BE49-F238E27FC236}">
                <a16:creationId xmlns:a16="http://schemas.microsoft.com/office/drawing/2014/main" id="{5FED7C55-F545-49A1-90FD-D853A25AB45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3C64A91D-E535-4C24-A0E3-96A3810E3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6FC4867-BA3E-4F8E-AB23-684F34DF3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40F1DF5B-353A-4270-8C10-6A1509441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rtl="0">
              <a:lnSpc>
                <a:spcPct val="100000"/>
              </a:lnSpc>
            </a:pPr>
            <a:r>
              <a:rPr lang="en-GB" dirty="0"/>
              <a:t>Requirements Gathering </a:t>
            </a:r>
            <a:endParaRPr lang="en-GB" sz="6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4BDCF583-1D5D-4235-97C2-39272B80A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 vert="horz" wrap="square" lIns="0" tIns="0" rIns="0" bIns="0" rtlCol="0">
            <a:normAutofit/>
          </a:bodyPr>
          <a:lstStyle/>
          <a:p>
            <a:pPr marL="0" indent="0" rtl="0">
              <a:lnSpc>
                <a:spcPct val="100000"/>
              </a:lnSpc>
              <a:buNone/>
            </a:pPr>
            <a:r>
              <a:rPr lang="en-GB" dirty="0"/>
              <a:t>As a User – I want – So that</a:t>
            </a:r>
            <a:endParaRPr lang="en-GB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7D98D-6710-41D2-B258-E1A1059D2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BA1B0FB-D917-4C8C-928F-313BD683BF39}" type="slidenum">
              <a:rPr lang="en-GB" smtClean="0"/>
              <a:t>4</a:t>
            </a:fld>
            <a:endParaRPr lang="en-GB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F6F3A41B-37E5-955D-A826-C8735D82B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en-GB" dirty="0"/>
              <a:t>Testing – Robustness &amp; Antifragility </a:t>
            </a:r>
          </a:p>
        </p:txBody>
      </p:sp>
      <p:sp>
        <p:nvSpPr>
          <p:cNvPr id="2" name="Date Placeholder 18">
            <a:extLst>
              <a:ext uri="{FF2B5EF4-FFF2-40B4-BE49-F238E27FC236}">
                <a16:creationId xmlns:a16="http://schemas.microsoft.com/office/drawing/2014/main" id="{F1C82F45-72E1-A7E9-7DA3-E58F9BD05C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 wrap="square" rtlCol="0"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 dirty="0"/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560021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C15EE852-24F1-4643-8082-AB45CFF2B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1997855"/>
          </a:xfrm>
        </p:spPr>
        <p:txBody>
          <a:bodyPr wrap="square" rtlCol="0" anchor="b">
            <a:normAutofit/>
          </a:bodyPr>
          <a:lstStyle/>
          <a:p>
            <a:r>
              <a:rPr lang="en-US" sz="3000" dirty="0"/>
              <a:t>Linking features to </a:t>
            </a:r>
            <a:r>
              <a:rPr lang="en-US" sz="3000" b="1" dirty="0"/>
              <a:t>real-world value</a:t>
            </a:r>
            <a:r>
              <a:rPr lang="en-US" sz="3000" dirty="0"/>
              <a:t>, not just listing functionality…</a:t>
            </a:r>
            <a:endParaRPr lang="en-GB" sz="3000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4139825C-53C7-44F4-A064-9795CECD0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677306"/>
            <a:ext cx="3565525" cy="3415519"/>
          </a:xfrm>
        </p:spPr>
        <p:txBody>
          <a:bodyPr wrap="square" rtlCol="0" anchor="t">
            <a:normAutofit/>
          </a:bodyPr>
          <a:lstStyle/>
          <a:p>
            <a:pPr rtl="0"/>
            <a:endParaRPr lang="en-GB" sz="1600" dirty="0"/>
          </a:p>
          <a:p>
            <a:pPr rtl="0"/>
            <a:endParaRPr lang="en-GB" sz="1600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5FF50B3B-1FDD-981F-E68A-35889DDF763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1887" r="21887"/>
          <a:stretch/>
        </p:blipFill>
        <p:spPr>
          <a:xfrm>
            <a:off x="5208588" y="1597025"/>
            <a:ext cx="3449637" cy="3448050"/>
          </a:xfrm>
        </p:spPr>
      </p:pic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301557C2-9072-409B-88EC-E8577CEFCAF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l="16700" r="16700"/>
          <a:stretch/>
        </p:blipFill>
        <p:spPr>
          <a:xfrm>
            <a:off x="8918575" y="596392"/>
            <a:ext cx="2263776" cy="2263776"/>
          </a:xfrm>
          <a:noFill/>
        </p:spPr>
      </p:pic>
      <p:pic>
        <p:nvPicPr>
          <p:cNvPr id="3" name="Picture 2" descr="A group of hands holding a puzzle piece">
            <a:extLst>
              <a:ext uri="{FF2B5EF4-FFF2-40B4-BE49-F238E27FC236}">
                <a16:creationId xmlns:a16="http://schemas.microsoft.com/office/drawing/2014/main" id="{896475FE-8662-AB07-7777-2495C5DA63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880" r="22618" b="-3"/>
          <a:stretch>
            <a:fillRect/>
          </a:stretch>
        </p:blipFill>
        <p:spPr>
          <a:xfrm>
            <a:off x="9091612" y="3324733"/>
            <a:ext cx="2936876" cy="2936876"/>
          </a:xfrm>
          <a:custGeom>
            <a:avLst/>
            <a:gdLst>
              <a:gd name="connsiteX0" fmla="*/ 1468438 w 2936876"/>
              <a:gd name="connsiteY0" fmla="*/ 0 h 2936876"/>
              <a:gd name="connsiteX1" fmla="*/ 2936876 w 2936876"/>
              <a:gd name="connsiteY1" fmla="*/ 1468438 h 2936876"/>
              <a:gd name="connsiteX2" fmla="*/ 1468438 w 2936876"/>
              <a:gd name="connsiteY2" fmla="*/ 2936876 h 2936876"/>
              <a:gd name="connsiteX3" fmla="*/ 0 w 2936876"/>
              <a:gd name="connsiteY3" fmla="*/ 1468438 h 2936876"/>
              <a:gd name="connsiteX4" fmla="*/ 1468438 w 2936876"/>
              <a:gd name="connsiteY4" fmla="*/ 0 h 293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6876" h="2936876">
                <a:moveTo>
                  <a:pt x="1468438" y="0"/>
                </a:moveTo>
                <a:cubicBezTo>
                  <a:pt x="2279434" y="0"/>
                  <a:pt x="2936876" y="657442"/>
                  <a:pt x="2936876" y="1468438"/>
                </a:cubicBezTo>
                <a:cubicBezTo>
                  <a:pt x="2936876" y="2279434"/>
                  <a:pt x="2279434" y="2936876"/>
                  <a:pt x="1468438" y="2936876"/>
                </a:cubicBezTo>
                <a:cubicBezTo>
                  <a:pt x="657442" y="2936876"/>
                  <a:pt x="0" y="2279434"/>
                  <a:pt x="0" y="1468438"/>
                </a:cubicBezTo>
                <a:cubicBezTo>
                  <a:pt x="0" y="657442"/>
                  <a:pt x="657442" y="0"/>
                  <a:pt x="1468438" y="0"/>
                </a:cubicBezTo>
                <a:close/>
              </a:path>
            </a:pathLst>
          </a:custGeom>
          <a:noFill/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C563B34-DD53-4FB1-B8C2-8914E01C6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wrap="square" rtlCol="0" anchor="ctr">
            <a:normAutofit/>
          </a:bodyPr>
          <a:lstStyle/>
          <a:p>
            <a:pPr rtl="0">
              <a:spcAft>
                <a:spcPts val="600"/>
              </a:spcAft>
            </a:pPr>
            <a:fld id="{DBA1B0FB-D917-4C8C-928F-313BD683BF39}" type="slidenum">
              <a:rPr lang="en-GB" smtClean="0"/>
              <a:pPr rtl="0">
                <a:spcAft>
                  <a:spcPts val="600"/>
                </a:spcAft>
              </a:pPr>
              <a:t>5</a:t>
            </a:fld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64E58EE-1810-AE3B-BA3C-7747E74E2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en-GB" dirty="0"/>
              <a:t>Testing – Robustness &amp; Antifragility </a:t>
            </a:r>
          </a:p>
        </p:txBody>
      </p:sp>
      <p:sp>
        <p:nvSpPr>
          <p:cNvPr id="2" name="Date Placeholder 18">
            <a:extLst>
              <a:ext uri="{FF2B5EF4-FFF2-40B4-BE49-F238E27FC236}">
                <a16:creationId xmlns:a16="http://schemas.microsoft.com/office/drawing/2014/main" id="{95A4A801-8DF9-71DF-04D5-A297506034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 wrap="square" rtlCol="0"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 dirty="0"/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95518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F933B-9205-724C-A510-7B2440320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wrap="square" anchor="t">
            <a:normAutofit/>
          </a:bodyPr>
          <a:lstStyle/>
          <a:p>
            <a:r>
              <a:rPr lang="en-US" sz="4400" dirty="0"/>
              <a:t>Traceable Requirements in Complex Systems</a:t>
            </a:r>
            <a:endParaRPr lang="en-GB" sz="4400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124BA6F0-2577-46A9-F6B5-68ABD71200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4410654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550863" y="2113199"/>
          <a:ext cx="11090274" cy="3979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519E90-7BF9-B973-C4B6-278528E4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wrap="square" anchor="ctr">
            <a:normAutofit/>
          </a:bodyPr>
          <a:lstStyle/>
          <a:p>
            <a:pPr rtl="0">
              <a:spcAft>
                <a:spcPts val="600"/>
              </a:spcAft>
            </a:pPr>
            <a:fld id="{DBA1B0FB-D917-4C8C-928F-313BD683BF39}" type="slidenum">
              <a:rPr lang="en-GB" smtClean="0"/>
              <a:pPr rtl="0">
                <a:spcAft>
                  <a:spcPts val="600"/>
                </a:spcAft>
              </a:pPr>
              <a:t>6</a:t>
            </a:fld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255F60F-376E-54D7-F287-A5F84F22B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en-GB" dirty="0"/>
              <a:t>Testing – Robustness &amp; Antifragility </a:t>
            </a:r>
          </a:p>
        </p:txBody>
      </p:sp>
    </p:spTree>
    <p:extLst>
      <p:ext uri="{BB962C8B-B14F-4D97-AF65-F5344CB8AC3E}">
        <p14:creationId xmlns:p14="http://schemas.microsoft.com/office/powerpoint/2010/main" val="330742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102D8-1D22-4940-AF19-07CF3A0DC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rtlCol="0"/>
          <a:lstStyle/>
          <a:p>
            <a:pPr rtl="0"/>
            <a:r>
              <a:rPr lang="en-GB" dirty="0"/>
              <a:t>As a User – I want – So that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en-GB" smtClean="0"/>
              <a:pPr rtl="0"/>
              <a:t>7</a:t>
            </a:fld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5358A1E-180A-E4BB-84CB-95946C217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en-GB" dirty="0"/>
              <a:t>Testing – Robustness &amp; Antifragility </a:t>
            </a:r>
          </a:p>
        </p:txBody>
      </p:sp>
      <p:sp>
        <p:nvSpPr>
          <p:cNvPr id="5" name="Date Placeholder 18">
            <a:extLst>
              <a:ext uri="{FF2B5EF4-FFF2-40B4-BE49-F238E27FC236}">
                <a16:creationId xmlns:a16="http://schemas.microsoft.com/office/drawing/2014/main" id="{35DC8266-920F-F1F6-9647-34E63285A7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 wrap="square" rtlCol="0"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 dirty="0"/>
              <a:t>September 2026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0422C6-BF07-2708-7B55-3F2D53061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45" y="1215275"/>
            <a:ext cx="9351818" cy="502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947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ADD85C-EE6F-AF6E-282E-8B9240436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1E412BE-5A9A-82EA-DFB0-7A604BA66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28BAF06-34B7-02CE-B2FF-B540518179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4266044-3E04-8805-F9D6-D41BEF4EA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ABDD546-CEB7-11F1-3E7F-A527892B4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E41E43B-388D-6E87-A3E4-D474843956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71638A6-5B66-6620-D302-720F91B75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8DD5773-211F-0114-23C2-44FE254A0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FB930313-7249-792A-0910-995DD84E6E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/>
            </a:p>
          </p:txBody>
        </p:sp>
      </p:grp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A08CC9AE-776A-3F82-1982-0BC9D316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pic>
        <p:nvPicPr>
          <p:cNvPr id="8" name="Picture Placeholder 7" descr="Data Points Digital background">
            <a:extLst>
              <a:ext uri="{FF2B5EF4-FFF2-40B4-BE49-F238E27FC236}">
                <a16:creationId xmlns:a16="http://schemas.microsoft.com/office/drawing/2014/main" id="{932A17EF-ED84-CDD9-E772-4E93EAF9BCA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6B974E9B-72AE-32E4-7854-2FD4FB0F4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6C7C5DA-06DE-95BA-62DC-42EC1067F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617E2216-8F69-5ACD-E314-6274588C98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vert="horz" wrap="square" lIns="0" tIns="0" rIns="0" bIns="0" rtlCol="0" anchor="b" anchorCtr="0">
            <a:normAutofit fontScale="90000"/>
          </a:bodyPr>
          <a:lstStyle/>
          <a:p>
            <a:r>
              <a:rPr lang="en-US" dirty="0"/>
              <a:t>How to test complex systems under opacity</a:t>
            </a: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8A495027-36B2-DCE6-EEBF-9DAB08428F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 vert="horz" wrap="square" lIns="0" tIns="0" rIns="0" bIns="0" rtlCol="0">
            <a:normAutofit/>
          </a:bodyPr>
          <a:lstStyle/>
          <a:p>
            <a:pPr marL="0" indent="0" rtl="0">
              <a:lnSpc>
                <a:spcPct val="100000"/>
              </a:lnSpc>
              <a:buNone/>
            </a:pPr>
            <a:r>
              <a:rPr lang="en-GB" kern="1200" dirty="0" err="1">
                <a:latin typeface="+mn-lt"/>
                <a:ea typeface="+mn-ea"/>
                <a:cs typeface="+mn-cs"/>
              </a:rPr>
              <a:t>Rubricks</a:t>
            </a:r>
            <a:r>
              <a:rPr lang="en-GB" kern="1200" dirty="0">
                <a:latin typeface="+mn-lt"/>
                <a:ea typeface="+mn-ea"/>
                <a:cs typeface="+mn-cs"/>
              </a:rPr>
              <a:t> Cubes &amp; Fukushima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7653F-CDDD-2910-E480-864C828B1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BA1B0FB-D917-4C8C-928F-313BD683BF39}" type="slidenum">
              <a:rPr lang="en-GB" smtClean="0"/>
              <a:t>8</a:t>
            </a:fld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BEEC4C6-5BD6-E1F0-ACCB-E767E2DE8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en-GB" dirty="0"/>
              <a:t>Testing – Robustness &amp; Antifragility </a:t>
            </a:r>
          </a:p>
        </p:txBody>
      </p:sp>
      <p:sp>
        <p:nvSpPr>
          <p:cNvPr id="2" name="Date Placeholder 18">
            <a:extLst>
              <a:ext uri="{FF2B5EF4-FFF2-40B4-BE49-F238E27FC236}">
                <a16:creationId xmlns:a16="http://schemas.microsoft.com/office/drawing/2014/main" id="{15B9E7DD-14BA-E980-9275-2950374DE3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 wrap="square" rtlCol="0"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 dirty="0"/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548281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79E12-06FF-DBA0-B2F4-E12E70ECF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A80492DE-AF74-D5F7-6CF0-EE6DC4674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1997855"/>
          </a:xfrm>
        </p:spPr>
        <p:txBody>
          <a:bodyPr wrap="square" rtlCol="0" anchor="b">
            <a:normAutofit/>
          </a:bodyPr>
          <a:lstStyle/>
          <a:p>
            <a:r>
              <a:rPr lang="en-US" sz="3000" dirty="0"/>
              <a:t>Like a </a:t>
            </a:r>
            <a:r>
              <a:rPr lang="en-US" sz="3000" dirty="0" err="1"/>
              <a:t>Rubricks</a:t>
            </a:r>
            <a:r>
              <a:rPr lang="en-US" sz="3000" dirty="0"/>
              <a:t> cube, software is an example of a complex system…</a:t>
            </a:r>
            <a:endParaRPr lang="en-GB" sz="3000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7427FC8-8CC2-F085-DF73-0456BA6E1E7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6685" r="16685"/>
          <a:stretch/>
        </p:blipFill>
        <p:spPr>
          <a:xfrm>
            <a:off x="5208588" y="1597025"/>
            <a:ext cx="3449637" cy="3448050"/>
          </a:xfrm>
        </p:spPr>
      </p:pic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E9E5FA87-8FDB-5923-ADA9-7A8A5A3CB03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/>
          <a:stretch/>
        </p:blipFill>
        <p:spPr>
          <a:xfrm>
            <a:off x="8918575" y="596392"/>
            <a:ext cx="2263776" cy="2263776"/>
          </a:xfr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5126F5-3020-9F95-00F5-C8224167B9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500" r="13500"/>
          <a:stretch/>
        </p:blipFill>
        <p:spPr>
          <a:xfrm>
            <a:off x="9091612" y="3324733"/>
            <a:ext cx="2936876" cy="2936876"/>
          </a:xfrm>
          <a:custGeom>
            <a:avLst/>
            <a:gdLst>
              <a:gd name="connsiteX0" fmla="*/ 1468438 w 2936876"/>
              <a:gd name="connsiteY0" fmla="*/ 0 h 2936876"/>
              <a:gd name="connsiteX1" fmla="*/ 2936876 w 2936876"/>
              <a:gd name="connsiteY1" fmla="*/ 1468438 h 2936876"/>
              <a:gd name="connsiteX2" fmla="*/ 1468438 w 2936876"/>
              <a:gd name="connsiteY2" fmla="*/ 2936876 h 2936876"/>
              <a:gd name="connsiteX3" fmla="*/ 0 w 2936876"/>
              <a:gd name="connsiteY3" fmla="*/ 1468438 h 2936876"/>
              <a:gd name="connsiteX4" fmla="*/ 1468438 w 2936876"/>
              <a:gd name="connsiteY4" fmla="*/ 0 h 293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6876" h="2936876">
                <a:moveTo>
                  <a:pt x="1468438" y="0"/>
                </a:moveTo>
                <a:cubicBezTo>
                  <a:pt x="2279434" y="0"/>
                  <a:pt x="2936876" y="657442"/>
                  <a:pt x="2936876" y="1468438"/>
                </a:cubicBezTo>
                <a:cubicBezTo>
                  <a:pt x="2936876" y="2279434"/>
                  <a:pt x="2279434" y="2936876"/>
                  <a:pt x="1468438" y="2936876"/>
                </a:cubicBezTo>
                <a:cubicBezTo>
                  <a:pt x="657442" y="2936876"/>
                  <a:pt x="0" y="2279434"/>
                  <a:pt x="0" y="1468438"/>
                </a:cubicBezTo>
                <a:cubicBezTo>
                  <a:pt x="0" y="657442"/>
                  <a:pt x="657442" y="0"/>
                  <a:pt x="1468438" y="0"/>
                </a:cubicBezTo>
                <a:close/>
              </a:path>
            </a:pathLst>
          </a:custGeom>
          <a:noFill/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FCB3C01-3A87-1EC5-3797-A360EDB0A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wrap="square" rtlCol="0" anchor="ctr">
            <a:normAutofit/>
          </a:bodyPr>
          <a:lstStyle/>
          <a:p>
            <a:pPr rtl="0">
              <a:spcAft>
                <a:spcPts val="600"/>
              </a:spcAft>
            </a:pPr>
            <a:fld id="{DBA1B0FB-D917-4C8C-928F-313BD683BF39}" type="slidenum">
              <a:rPr lang="en-GB" smtClean="0"/>
              <a:pPr rtl="0">
                <a:spcAft>
                  <a:spcPts val="600"/>
                </a:spcAft>
              </a:pPr>
              <a:t>9</a:t>
            </a:fld>
            <a:endParaRPr lang="en-GB"/>
          </a:p>
        </p:txBody>
      </p:sp>
      <p:sp>
        <p:nvSpPr>
          <p:cNvPr id="2" name="Title 13">
            <a:extLst>
              <a:ext uri="{FF2B5EF4-FFF2-40B4-BE49-F238E27FC236}">
                <a16:creationId xmlns:a16="http://schemas.microsoft.com/office/drawing/2014/main" id="{90FA16DC-CB91-27EC-98C6-50930E57AD80}"/>
              </a:ext>
            </a:extLst>
          </p:cNvPr>
          <p:cNvSpPr txBox="1">
            <a:spLocks/>
          </p:cNvSpPr>
          <p:nvPr/>
        </p:nvSpPr>
        <p:spPr>
          <a:xfrm>
            <a:off x="1576388" y="3528244"/>
            <a:ext cx="3565524" cy="199785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000" dirty="0"/>
          </a:p>
        </p:txBody>
      </p:sp>
      <p:sp>
        <p:nvSpPr>
          <p:cNvPr id="4" name="Title 13">
            <a:extLst>
              <a:ext uri="{FF2B5EF4-FFF2-40B4-BE49-F238E27FC236}">
                <a16:creationId xmlns:a16="http://schemas.microsoft.com/office/drawing/2014/main" id="{0DB76823-0227-DCC5-1390-FC748244B86B}"/>
              </a:ext>
            </a:extLst>
          </p:cNvPr>
          <p:cNvSpPr txBox="1">
            <a:spLocks/>
          </p:cNvSpPr>
          <p:nvPr/>
        </p:nvSpPr>
        <p:spPr>
          <a:xfrm>
            <a:off x="1096964" y="3429000"/>
            <a:ext cx="3565524" cy="199785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/>
              <a:t>…emergent </a:t>
            </a:r>
            <a:r>
              <a:rPr lang="en-US" sz="3000" dirty="0" err="1"/>
              <a:t>behaviour</a:t>
            </a:r>
            <a:r>
              <a:rPr lang="en-US" sz="3000" dirty="0"/>
              <a:t> is produced from local interactions…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0EC9D8E-9331-CCB6-05C3-FD08CF686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en-GB" dirty="0"/>
              <a:t>Testing – Robustness &amp; Antifragility </a:t>
            </a:r>
          </a:p>
        </p:txBody>
      </p:sp>
      <p:sp>
        <p:nvSpPr>
          <p:cNvPr id="7" name="Date Placeholder 18">
            <a:extLst>
              <a:ext uri="{FF2B5EF4-FFF2-40B4-BE49-F238E27FC236}">
                <a16:creationId xmlns:a16="http://schemas.microsoft.com/office/drawing/2014/main" id="{C3195277-FD2B-4BCE-F1CC-1ABA23A44E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 wrap="square" rtlCol="0"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 dirty="0"/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891602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79B27-E8AE-D2A9-B103-A7F624AB9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6E27B-1AEB-36D4-FF6B-901711E42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wrap="square" anchor="t">
            <a:normAutofit/>
          </a:bodyPr>
          <a:lstStyle/>
          <a:p>
            <a:r>
              <a:rPr lang="en-US" sz="4400" dirty="0"/>
              <a:t>Software as a complex system exhibits:</a:t>
            </a:r>
            <a:endParaRPr lang="en-GB" sz="44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04381F-A0FB-5AFA-3956-8A597C2C6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wrap="square" anchor="ctr">
            <a:normAutofit/>
          </a:bodyPr>
          <a:lstStyle/>
          <a:p>
            <a:pPr rtl="0">
              <a:spcAft>
                <a:spcPts val="600"/>
              </a:spcAft>
            </a:pPr>
            <a:fld id="{DBA1B0FB-D917-4C8C-928F-313BD683BF39}" type="slidenum">
              <a:rPr lang="en-GB" smtClean="0"/>
              <a:pPr rtl="0">
                <a:spcAft>
                  <a:spcPts val="600"/>
                </a:spcAft>
              </a:pPr>
              <a:t>10</a:t>
            </a:fld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B8653EF-8E1C-5AB1-2E56-91BE0C87E6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9538" y="1327279"/>
            <a:ext cx="1161407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Non-linearity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small changes can produce disproportionately large 2</a:t>
            </a:r>
            <a:r>
              <a:rPr kumimoji="0" lang="en-US" altLang="en-US" sz="18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order effects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system-level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behaviour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arises from local interactions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Interdependence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components are tightly coupled rather than isolated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Feedback loops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actions reinforce or dampen future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behaviour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Path dependence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outcomes depend on the sequence of prior states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Opacity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internal cause–effect relationships are not fully observable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 explosion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the number of possible system states grows exponentially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Adaptive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behaviour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the system responds and changes under stress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Ensemble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profile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a single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code fix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triggers an ensemble of state changes that reshapes the overall risk profile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complex systems non-linearity, emergence and interdependence generate silent risk: system-leve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l failure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 modes that remain hidden until the system is unexpectedly over stressed beyond ‘normal’ conditions…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F4AAA19-FAEA-6743-0CF8-B69D57385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en-GB" dirty="0"/>
              <a:t>Testing – Robustness &amp; Antifragility </a:t>
            </a:r>
          </a:p>
        </p:txBody>
      </p:sp>
      <p:sp>
        <p:nvSpPr>
          <p:cNvPr id="6" name="Date Placeholder 18">
            <a:extLst>
              <a:ext uri="{FF2B5EF4-FFF2-40B4-BE49-F238E27FC236}">
                <a16:creationId xmlns:a16="http://schemas.microsoft.com/office/drawing/2014/main" id="{1B5BC54D-A6BA-2EFE-606A-6E494DF471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 wrap="square" rtlCol="0"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 dirty="0"/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770278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8A332-1F9C-B902-8843-4B9D9A647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00F4146-62D7-C31A-B07D-8ECD354EC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949" y="-199607"/>
            <a:ext cx="3565524" cy="1997855"/>
          </a:xfrm>
        </p:spPr>
        <p:txBody>
          <a:bodyPr wrap="square" rtlCol="0" anchor="b">
            <a:normAutofit/>
          </a:bodyPr>
          <a:lstStyle/>
          <a:p>
            <a:r>
              <a:rPr lang="en-US" sz="3000" dirty="0"/>
              <a:t>The future maxima is greater than the past maxima…</a:t>
            </a:r>
            <a:endParaRPr lang="en-GB" sz="3000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99B52EC-75DD-AD24-7B42-870E2ECAB7D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2483" r="12483"/>
          <a:stretch/>
        </p:blipFill>
        <p:spPr>
          <a:xfrm>
            <a:off x="5208588" y="1597025"/>
            <a:ext cx="3449637" cy="3448050"/>
          </a:xfrm>
        </p:spPr>
      </p:pic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B8661473-05D0-7353-8976-B9F63DDDBE6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/>
          <a:stretch/>
        </p:blipFill>
        <p:spPr>
          <a:xfrm>
            <a:off x="8918575" y="596392"/>
            <a:ext cx="2263776" cy="2263776"/>
          </a:xfr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5B4F2A-93AD-D49B-B4C9-5B452D46D7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800" r="20800"/>
          <a:stretch/>
        </p:blipFill>
        <p:spPr>
          <a:xfrm>
            <a:off x="9091612" y="3324733"/>
            <a:ext cx="2936876" cy="2936876"/>
          </a:xfrm>
          <a:custGeom>
            <a:avLst/>
            <a:gdLst>
              <a:gd name="connsiteX0" fmla="*/ 1468438 w 2936876"/>
              <a:gd name="connsiteY0" fmla="*/ 0 h 2936876"/>
              <a:gd name="connsiteX1" fmla="*/ 2936876 w 2936876"/>
              <a:gd name="connsiteY1" fmla="*/ 1468438 h 2936876"/>
              <a:gd name="connsiteX2" fmla="*/ 1468438 w 2936876"/>
              <a:gd name="connsiteY2" fmla="*/ 2936876 h 2936876"/>
              <a:gd name="connsiteX3" fmla="*/ 0 w 2936876"/>
              <a:gd name="connsiteY3" fmla="*/ 1468438 h 2936876"/>
              <a:gd name="connsiteX4" fmla="*/ 1468438 w 2936876"/>
              <a:gd name="connsiteY4" fmla="*/ 0 h 293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6876" h="2936876">
                <a:moveTo>
                  <a:pt x="1468438" y="0"/>
                </a:moveTo>
                <a:cubicBezTo>
                  <a:pt x="2279434" y="0"/>
                  <a:pt x="2936876" y="657442"/>
                  <a:pt x="2936876" y="1468438"/>
                </a:cubicBezTo>
                <a:cubicBezTo>
                  <a:pt x="2936876" y="2279434"/>
                  <a:pt x="2279434" y="2936876"/>
                  <a:pt x="1468438" y="2936876"/>
                </a:cubicBezTo>
                <a:cubicBezTo>
                  <a:pt x="657442" y="2936876"/>
                  <a:pt x="0" y="2279434"/>
                  <a:pt x="0" y="1468438"/>
                </a:cubicBezTo>
                <a:cubicBezTo>
                  <a:pt x="0" y="657442"/>
                  <a:pt x="657442" y="0"/>
                  <a:pt x="1468438" y="0"/>
                </a:cubicBezTo>
                <a:close/>
              </a:path>
            </a:pathLst>
          </a:custGeom>
          <a:noFill/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8A732FD6-D327-FA54-4719-A048E7B9C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wrap="square" rtlCol="0" anchor="ctr">
            <a:normAutofit/>
          </a:bodyPr>
          <a:lstStyle/>
          <a:p>
            <a:pPr rtl="0">
              <a:spcAft>
                <a:spcPts val="600"/>
              </a:spcAft>
            </a:pPr>
            <a:fld id="{DBA1B0FB-D917-4C8C-928F-313BD683BF39}" type="slidenum">
              <a:rPr lang="en-GB" smtClean="0"/>
              <a:pPr rtl="0">
                <a:spcAft>
                  <a:spcPts val="600"/>
                </a:spcAft>
              </a:pPr>
              <a:t>11</a:t>
            </a:fld>
            <a:endParaRPr lang="en-GB"/>
          </a:p>
        </p:txBody>
      </p:sp>
      <p:sp>
        <p:nvSpPr>
          <p:cNvPr id="2" name="Title 13">
            <a:extLst>
              <a:ext uri="{FF2B5EF4-FFF2-40B4-BE49-F238E27FC236}">
                <a16:creationId xmlns:a16="http://schemas.microsoft.com/office/drawing/2014/main" id="{A2082468-8C8E-8877-0B35-B937CAF644D4}"/>
              </a:ext>
            </a:extLst>
          </p:cNvPr>
          <p:cNvSpPr txBox="1">
            <a:spLocks/>
          </p:cNvSpPr>
          <p:nvPr/>
        </p:nvSpPr>
        <p:spPr>
          <a:xfrm>
            <a:off x="1576388" y="3528244"/>
            <a:ext cx="3565524" cy="199785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000" dirty="0"/>
          </a:p>
        </p:txBody>
      </p:sp>
      <p:sp>
        <p:nvSpPr>
          <p:cNvPr id="4" name="Title 13">
            <a:extLst>
              <a:ext uri="{FF2B5EF4-FFF2-40B4-BE49-F238E27FC236}">
                <a16:creationId xmlns:a16="http://schemas.microsoft.com/office/drawing/2014/main" id="{9C7BC3BB-363F-6E53-5936-E471FF8C8391}"/>
              </a:ext>
            </a:extLst>
          </p:cNvPr>
          <p:cNvSpPr txBox="1">
            <a:spLocks/>
          </p:cNvSpPr>
          <p:nvPr/>
        </p:nvSpPr>
        <p:spPr>
          <a:xfrm>
            <a:off x="1092655" y="2486004"/>
            <a:ext cx="3565524" cy="199785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/>
              <a:t>…Fukushima tested to the largest know Tsunami, not the one that actually hit…</a:t>
            </a:r>
          </a:p>
        </p:txBody>
      </p:sp>
      <p:sp>
        <p:nvSpPr>
          <p:cNvPr id="6" name="Title 13">
            <a:extLst>
              <a:ext uri="{FF2B5EF4-FFF2-40B4-BE49-F238E27FC236}">
                <a16:creationId xmlns:a16="http://schemas.microsoft.com/office/drawing/2014/main" id="{8058354E-C82E-1A35-F389-1F150E8E9BCA}"/>
              </a:ext>
            </a:extLst>
          </p:cNvPr>
          <p:cNvSpPr txBox="1">
            <a:spLocks/>
          </p:cNvSpPr>
          <p:nvPr/>
        </p:nvSpPr>
        <p:spPr>
          <a:xfrm>
            <a:off x="1209677" y="5439475"/>
            <a:ext cx="5321752" cy="9449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/>
              <a:t>…exposing silent risk in a supposedly robust system…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39C182D-0730-8A7B-4CE6-772217167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en-GB" dirty="0"/>
              <a:t>Testing – Robustness &amp; Antifragility </a:t>
            </a:r>
          </a:p>
        </p:txBody>
      </p:sp>
      <p:sp>
        <p:nvSpPr>
          <p:cNvPr id="9" name="Date Placeholder 18">
            <a:extLst>
              <a:ext uri="{FF2B5EF4-FFF2-40B4-BE49-F238E27FC236}">
                <a16:creationId xmlns:a16="http://schemas.microsoft.com/office/drawing/2014/main" id="{5745B697-DE79-A7DD-70F7-59C2BD2BAA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 wrap="square" rtlCol="0"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 dirty="0"/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511032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26178-DEF9-C080-EE9F-6DEE20F2A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6DEA3-7D35-55CF-8E9E-7B47428A3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wrap="square" anchor="t">
            <a:normAutofit/>
          </a:bodyPr>
          <a:lstStyle/>
          <a:p>
            <a:r>
              <a:rPr lang="en-US" sz="4400" dirty="0"/>
              <a:t>Robustness &amp; Antifragility:</a:t>
            </a:r>
            <a:endParaRPr lang="en-GB" sz="44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42B89B-B31C-F6C9-F840-A995C99B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wrap="square" anchor="ctr">
            <a:normAutofit/>
          </a:bodyPr>
          <a:lstStyle/>
          <a:p>
            <a:pPr rtl="0">
              <a:spcAft>
                <a:spcPts val="600"/>
              </a:spcAft>
            </a:pPr>
            <a:fld id="{DBA1B0FB-D917-4C8C-928F-313BD683BF39}" type="slidenum">
              <a:rPr lang="en-GB" smtClean="0"/>
              <a:pPr rtl="0">
                <a:spcAft>
                  <a:spcPts val="600"/>
                </a:spcAft>
              </a:pPr>
              <a:t>12</a:t>
            </a:fld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B8CC123-7DED-463E-1338-ABF23174E2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9538" y="1265729"/>
            <a:ext cx="10362972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 dirty="0"/>
              <a:t>A rules engine is robust: it survives the expected. A self-learning system is antifragile: it gets stronger from every correction, every vendor change, every policy shift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To mitigate hidden risk we test with floating maxima – we anticipate &amp; mitigate the impact of the unknown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Stress testing our configuration and code changes BEFORE deployment reveals silent risks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Build in redundancies to our system so we can expect the unexpected and absorb shocks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We make our systems not only robust but antifragile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Our work doesn’t just survive chaos - it thrives under it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01E2BF9-C2BC-CF57-5C0A-121982F66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en-GB" dirty="0"/>
              <a:t>Testing – Robustness &amp; Antifragility </a:t>
            </a:r>
          </a:p>
        </p:txBody>
      </p:sp>
      <p:sp>
        <p:nvSpPr>
          <p:cNvPr id="6" name="Date Placeholder 18">
            <a:extLst>
              <a:ext uri="{FF2B5EF4-FFF2-40B4-BE49-F238E27FC236}">
                <a16:creationId xmlns:a16="http://schemas.microsoft.com/office/drawing/2014/main" id="{09034A73-0BF0-FB80-3048-E7B1409978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 wrap="square" rtlCol="0"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 dirty="0"/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4087741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D10F3D66-0109-4903-90B9-66D0E288F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99358" y="2155912"/>
            <a:ext cx="1335600" cy="1262947"/>
            <a:chOff x="10145015" y="2343978"/>
            <a:chExt cx="1335600" cy="1262947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7DAB968-9B52-4EFF-AD39-7657DFEA6E4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62BE440-9634-4380-B142-5DB692420C52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4B18D636-CC10-4B1E-AA38-419DCCF2D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What does this mean for us?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en-GB" smtClean="0"/>
              <a:pPr rtl="0"/>
              <a:t>13</a:t>
            </a:fld>
            <a:endParaRPr lang="en-GB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6F3814E-455F-456B-B1AF-7B993965A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075D1E80-C0D8-D152-B870-63E9D4960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87" y="1801541"/>
            <a:ext cx="949503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Why Robust &amp; Antifragile Practices Matter for Enterprise Configurations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Catch hidden risks early</a:t>
            </a:r>
            <a:r>
              <a:rPr lang="en-US" dirty="0"/>
              <a:t>: stress-test data models and configurations before deployment.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Maintain control and flexibility</a:t>
            </a:r>
            <a:r>
              <a:rPr lang="en-US" dirty="0"/>
              <a:t>: versioning and iterative updates allow safe rollbacks.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Reduce failure impact</a:t>
            </a:r>
            <a:r>
              <a:rPr lang="en-US" dirty="0"/>
              <a:t>: built-in redundancies prevent small errors from cascading.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Save money</a:t>
            </a:r>
            <a:r>
              <a:rPr lang="en-US" dirty="0"/>
              <a:t>: prevent costly production failures and downtime.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Turn complexity into advantage</a:t>
            </a:r>
            <a:r>
              <a:rPr lang="en-US" dirty="0"/>
              <a:t>: resilient systems not only survive but improve under stress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" name="Date Placeholder 18">
            <a:extLst>
              <a:ext uri="{FF2B5EF4-FFF2-40B4-BE49-F238E27FC236}">
                <a16:creationId xmlns:a16="http://schemas.microsoft.com/office/drawing/2014/main" id="{8B0AE6FE-3A05-9D0F-22D7-B8ECCE5F88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 wrap="square" rtlCol="0"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 dirty="0"/>
              <a:t>September 2026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187BFB5-D4E1-4158-AB53-4B0617845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en-GB" dirty="0"/>
              <a:t>Testing – Robustness &amp; Antifragility </a:t>
            </a:r>
          </a:p>
        </p:txBody>
      </p:sp>
    </p:spTree>
    <p:extLst>
      <p:ext uri="{BB962C8B-B14F-4D97-AF65-F5344CB8AC3E}">
        <p14:creationId xmlns:p14="http://schemas.microsoft.com/office/powerpoint/2010/main" val="3891345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581E8936-2270-47FE-94A4-398CB123E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8500"/>
            <a:ext cx="4500562" cy="1562959"/>
          </a:xfrm>
        </p:spPr>
        <p:txBody>
          <a:bodyPr rtlCol="0"/>
          <a:lstStyle/>
          <a:p>
            <a:pPr rtl="0"/>
            <a:r>
              <a:rPr lang="en-GB"/>
              <a:t>Summary</a:t>
            </a:r>
          </a:p>
        </p:txBody>
      </p:sp>
      <p:pic>
        <p:nvPicPr>
          <p:cNvPr id="16" name="Picture Placeholder 15" descr="Data Points Digital background">
            <a:extLst>
              <a:ext uri="{FF2B5EF4-FFF2-40B4-BE49-F238E27FC236}">
                <a16:creationId xmlns:a16="http://schemas.microsoft.com/office/drawing/2014/main" id="{361E9ADB-7377-4CF1-9AE4-AEFBDEBEEEE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3776472"/>
          </a:xfr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0287FEC-3826-4868-8D93-52429C6156F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rmAutofit/>
          </a:bodyPr>
          <a:lstStyle/>
          <a:p>
            <a:r>
              <a:rPr lang="en-US" dirty="0"/>
              <a:t>By designing for robustness and antifragility, we turn chaos into an advantage: preventing costly failures, surviving the unexpected, and thriving under stress.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en-GB" smtClean="0"/>
              <a:pPr rtl="0"/>
              <a:t>14</a:t>
            </a:fld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D759739-BFB3-5C96-E17D-4AA514886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en-GB" dirty="0"/>
              <a:t>Testing – Robustness &amp; Antifragility </a:t>
            </a:r>
          </a:p>
        </p:txBody>
      </p:sp>
      <p:sp>
        <p:nvSpPr>
          <p:cNvPr id="4" name="Date Placeholder 18">
            <a:extLst>
              <a:ext uri="{FF2B5EF4-FFF2-40B4-BE49-F238E27FC236}">
                <a16:creationId xmlns:a16="http://schemas.microsoft.com/office/drawing/2014/main" id="{65AFF023-201D-4EB7-15CA-7873F88509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 wrap="square" rtlCol="0"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 dirty="0"/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521561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F8FAEED9-1ECD-45F9-87A0-9394BAEAB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/>
          <a:lstStyle/>
          <a:p>
            <a:pPr rtl="0"/>
            <a:r>
              <a:rPr lang="en-GB" dirty="0"/>
              <a:t>Thank You</a:t>
            </a: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8E5E4638-9BCB-4C2E-914F-CC868E2020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 rtlCol="0"/>
          <a:lstStyle/>
          <a:p>
            <a:pPr rtl="0"/>
            <a:r>
              <a:rPr lang="en-GB" dirty="0"/>
              <a:t>Miles Waite</a:t>
            </a:r>
          </a:p>
          <a:p>
            <a:pPr rtl="0"/>
            <a:r>
              <a:rPr lang="en-GB" dirty="0"/>
              <a:t>Mileswaite.net</a:t>
            </a:r>
          </a:p>
        </p:txBody>
      </p:sp>
      <p:pic>
        <p:nvPicPr>
          <p:cNvPr id="27" name="Picture Placeholder 26" descr="Data Points Digital background">
            <a:extLst>
              <a:ext uri="{FF2B5EF4-FFF2-40B4-BE49-F238E27FC236}">
                <a16:creationId xmlns:a16="http://schemas.microsoft.com/office/drawing/2014/main" id="{9E660784-34E2-4CDA-926A-DDD6AAF3504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6248" y="548640"/>
            <a:ext cx="5084064" cy="2880360"/>
          </a:xfrm>
        </p:spPr>
      </p:pic>
      <p:pic>
        <p:nvPicPr>
          <p:cNvPr id="33" name="Picture Placeholder 32" descr="Data Points Digital background">
            <a:extLst>
              <a:ext uri="{FF2B5EF4-FFF2-40B4-BE49-F238E27FC236}">
                <a16:creationId xmlns:a16="http://schemas.microsoft.com/office/drawing/2014/main" id="{48106962-23C6-4DFE-BB3A-E5FFF03F38CE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6248" y="3429000"/>
            <a:ext cx="5084064" cy="288036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60F23-FB58-4EF8-82FD-E86CED25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en-GB" smtClean="0"/>
              <a:pPr rtl="0"/>
              <a:t>15</a:t>
            </a:fld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1840A94-782B-4E3E-6A07-B594C3075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en-GB" dirty="0"/>
              <a:t>Testing – Robustness &amp; Antifragility </a:t>
            </a:r>
          </a:p>
        </p:txBody>
      </p:sp>
      <p:sp>
        <p:nvSpPr>
          <p:cNvPr id="2" name="Date Placeholder 18">
            <a:extLst>
              <a:ext uri="{FF2B5EF4-FFF2-40B4-BE49-F238E27FC236}">
                <a16:creationId xmlns:a16="http://schemas.microsoft.com/office/drawing/2014/main" id="{0531335D-5BA8-5299-0565-E9B0B7FA8B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 wrap="square" rtlCol="0"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 dirty="0"/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247798845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74515124.tgt.Office_50301378_TF33713516_Win32_OJ112196127" id="{EDFFA481-CE53-4409-8D36-2ECF03B6BBD6}" vid="{001D13DB-0C6A-47B8-A3F5-ADC4851DB2E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811A92-D464-4AC4-A396-BA73B10CEEA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04751AB-E840-446F-8D49-E697067EC88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4876F9-7AE1-498D-B8FE-1E3AD703D2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{D06FF204-A165-4D3C-924C-385BC5C1FD1B}tf33713516_win32</Template>
  <TotalTime>2121</TotalTime>
  <Words>810</Words>
  <Application>Microsoft Office PowerPoint</Application>
  <PresentationFormat>Widescreen</PresentationFormat>
  <Paragraphs>138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Gill Sans MT</vt:lpstr>
      <vt:lpstr>Walbaum Display</vt:lpstr>
      <vt:lpstr>3DFloatVTI</vt:lpstr>
      <vt:lpstr>Complex Systems:   Testing – Robustness &amp; Antifragility </vt:lpstr>
      <vt:lpstr>Agenda</vt:lpstr>
      <vt:lpstr>Introduction</vt:lpstr>
      <vt:lpstr>Requirements Gathering </vt:lpstr>
      <vt:lpstr>Linking features to real-world value, not just listing functionality…</vt:lpstr>
      <vt:lpstr>Traceable Requirements in Complex Systems</vt:lpstr>
      <vt:lpstr>As a User – I want – So that</vt:lpstr>
      <vt:lpstr>How to test complex systems under opacity</vt:lpstr>
      <vt:lpstr>Like a Rubricks cube, software is an example of a complex system…</vt:lpstr>
      <vt:lpstr>Software as a complex system exhibits:</vt:lpstr>
      <vt:lpstr>The future maxima is greater than the past maxima…</vt:lpstr>
      <vt:lpstr>Robustness &amp; Antifragility:</vt:lpstr>
      <vt:lpstr>What does this mean for us?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lorenzsys@protonmail.com</dc:creator>
  <cp:lastModifiedBy>Miles Waite</cp:lastModifiedBy>
  <cp:revision>9</cp:revision>
  <dcterms:created xsi:type="dcterms:W3CDTF">2025-12-19T20:21:14Z</dcterms:created>
  <dcterms:modified xsi:type="dcterms:W3CDTF">2026-09-02T07:31:25Z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